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&amp; OVERVIEW (1.0 min):</a:t>
            </a:r>
          </a:p>
          <a:p>
            <a:r>
              <a:t>Good morning, respected evaluators. Today, our team presents our deep learning capstone and hackathon system: 'Speaker-Adaptive Visual Speech Recognition: Few-Shot Personalization for Dysarthric Speakers.'</a:t>
            </a:r>
          </a:p>
          <a:p>
            <a:r>
              <a:t>Our presentation is strictly timed for 15 minutes and organized into four independent technical modules. Even if you prefer us to skip the background, each student is prepared to present their technical component stand-alone. I will now introduce the problem statement and research motivation.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PROBLEM &amp; MOTIVATION (1.5 min):</a:t>
            </a:r>
          </a:p>
          <a:p>
            <a:r>
              <a:t>Traditional speech recognition requires acoustic vocalization. For individuals with neuromotor dysarthria from cerebral palsy or stroke, acoustic ASR produces Word Error Rates exceeding 70%, rendering voice assistants useless. Visual speech recognition decodes words purely from lip motion. However, current VSR models like LipNet are trained exclusively on healthy laboratory speakers. When applied zero-shot to dysarthric speakers, they collapse to chance accuracy (~10%). Furthermore, motor-impaired individuals experience severe physical fatigue, meaning we can only collect 1 to 5 training clips. Our goal is solving this few-shot personalization challenge.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OBJECTIVES (1.0 min):</a:t>
            </a:r>
          </a:p>
          <a:p>
            <a:r>
              <a:t>We set four measurable engineering and research objectives:</a:t>
            </a:r>
          </a:p>
          <a:p>
            <a:r>
              <a:t>1. Train a strong spatio-temporal lip-reading backbone on 8 typical speakers.</a:t>
            </a:r>
          </a:p>
          <a:p>
            <a:r>
              <a:t>2. Fix the visual crop jitter that destroys 3D convolution optical flow.</a:t>
            </a:r>
          </a:p>
          <a:p>
            <a:r>
              <a:t>3. Design parameter-efficient bottleneck adapters that adapt using only 1 to 5 clips per class without catastrophic forgetting.</a:t>
            </a:r>
          </a:p>
          <a:p>
            <a:r>
              <a:t>4. Validate everything under strict Leave-One-Block-Out cross-validation with exact Clopper-Pearson confidence intervals, and package into a working desktop app.</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LITERATURE REVIEW (1.5 min):</a:t>
            </a:r>
          </a:p>
          <a:p>
            <a:r>
              <a:t>Here we compare our work against existing literature. Assael et al.'s LipNet established deep visual speech recognition, but evaluated only neurotypical speakers under lab conditions. Modern Transformer architectures like Afouras et al. require tens of thousands of training hours, which is completely unfeasible for motor-impaired patients. Acoustic models like Joy et al. fail whenever speech is non-vocal or background noise is present. Our work is the first to evaluate few-shot visual adaptation on cerebral palsy speakers using parameter-efficient residual adapters.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NOVELTY &amp; CONTRIBUTIONS (1.0 min):</a:t>
            </a:r>
          </a:p>
          <a:p>
            <a:r>
              <a:t>Our contributions are twofold: algorithmic and clinical.</a:t>
            </a:r>
          </a:p>
          <a:p>
            <a:r>
              <a:t>First, we introduce parameter-efficient bottleneck adapter tuning to visual lip-reading for dysarthria, updating only 0.8% of weights.</a:t>
            </a:r>
          </a:p>
          <a:p>
            <a:r>
              <a:t>Second, we introduce non-parametric cosine prototype matching for instant enrollment.</a:t>
            </a:r>
          </a:p>
          <a:p>
            <a:r>
              <a:t>Third, we establish honest evaluation rigor: Leave-One-Block-Out folds and exact Clopper-Pearson confidence intervals.</a:t>
            </a:r>
          </a:p>
          <a:p>
            <a:r>
              <a:t>Fourth, we deploy a live desktop system that decouples hardware capture from inference.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STUDENT 1 - DATASET SPECIFICATIONS (1.0 min):</a:t>
            </a:r>
          </a:p>
          <a:p>
            <a:r>
              <a:t>I am Student 1, leading Data Engineering and Preprocessing. Our source domain is the GRID corpus, consisting of 8 typical speakers and 7,859 continuous sentence clips totaling 47,154 word instances. Our target domain is the UASpeech video database. We focus on two benchmark dysarthric speakers: F05, who has mild dysarthria with 95% speech intelligibility, and F02, who has severe dysarthria with only 29% intelligibility. Crucially, our evaluation enforces Leave-One-Block-Out folds, ensuring that the test clips come from an entirely separate recording session than the adaptation clips.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STUDENT 1 - PREPROCESSING &amp; LEAKAGE (1.5 min):</a:t>
            </a:r>
          </a:p>
          <a:p>
            <a:r>
              <a:t>Here are our two most critical preprocessing breakthroughs:</a:t>
            </a:r>
          </a:p>
          <a:p>
            <a:r>
              <a:t>First, standard per-frame face detection introduces bounding-box jitter, which injects false motion noise into 3D convolution layers. We fixed this by estimating ONE median bounding box per clip over 8 sampled frames, which stabilized training loss.</a:t>
            </a:r>
          </a:p>
          <a:p>
            <a:r>
              <a:t>Second, isolated word clips are shorter than full sentences. We conducted an empirical temporal scaling test comparing zero-padding against linear resampling. Linear resampling achieved 32.6% accuracy compared to just 16.8% for zero-padding, because zero-padding corrupts the temporal running statistics of BatchNorm layers. We also strictly prevented data leakage through session-disjoint Leave-One-Block-Out folds.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STUDENT 2 - SYSTEM ARCHITECTURE (1.0 min):</a:t>
            </a:r>
          </a:p>
          <a:p>
            <a:r>
              <a:t>I am Student 2, Deep Learning Architect. Our end-to-end pipeline operates in three distinct phases:</a:t>
            </a:r>
          </a:p>
          <a:p>
            <a:r>
              <a:t>Phase 1 is multi-speaker source pretraining on the GRID corpus, establishing a 12.5M parameter spatio-temporal representation.</a:t>
            </a:r>
          </a:p>
          <a:p>
            <a:r>
              <a:t>Phase 2 is few-shot target personalization. We completely freeze the 12.5M backbone and train only a bottleneck residual adapter on 1 to 5 clips from the dysarthric user.</a:t>
            </a:r>
          </a:p>
          <a:p>
            <a:r>
              <a:t>Phase 3 is real-time deployment in our desktop application, which resamples webcam frames to 25.0 FPS and normalizes lighting before running inference.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STUDENT 2 - DEEP LEARNING METHODOLOGY (1.5 min):</a:t>
            </a:r>
          </a:p>
          <a:p>
            <a:r>
              <a:t>Here are the exact architecture details extracted from our code:</a:t>
            </a:r>
          </a:p>
          <a:p>
            <a:r>
              <a:t>We employ a 3-layer 3D-CNN frontend with 3D batch normalization and max-pooling, extracting 6,912 spatial features per frame. These feed into a 2-layer Bidirectional GRU with 512 temporal units. The model contains exactly 12,544,980 parameters. During pretraining, 100% of weights are trained for 80 epochs using AdamW and cosine annealing. During adaptation, we freeze the entire 12.5M backbone and train only the bottleneck adapter and linear head—just 98,868 parameters, or less than 0.8% of the model.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STUDENT 3 - CONTROL BENCHMARK (1.0 min):</a:t>
            </a:r>
          </a:p>
          <a:p>
            <a:r>
              <a:t>I am Student 3, leading Adaptation and Statistical Evaluation. Before evaluating dysarthric speech, we established a neurotypical upper bound by evaluating our model on 878 isolated digit cuts from typical speaker s8. As shown in Figure 1, source pretraining loss smoothly declined from 2.93 to 0.089 over 80 epochs. On speaker s8, the model achieves 36.8% Top-1 accuracy and 75.2% Top-3 accuracy against a 10% chance level. The confusion matrix in Figure 2 shows that visually distinct digits like 'four' and 'six' achieve &gt;97% recall, while phonetically distinct but visually identical visemes exhibit expected visual collisions.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STUDENT 3 - PERSONALIZATION CURVES (1.5 min):</a:t>
            </a:r>
          </a:p>
          <a:p>
            <a:r>
              <a:t>Figure 3 presents our core personalization finding across support budgets k in {1, 3, 5, 10, 20} over 5 random seeds. Full fine-tuning suffers severe catastrophic forgetting: updating 12.5M weights on just 5 clips causes Top-1 accuracy to collapse to 8%. In contrast, our bottleneck residual adapter freezes the backbone, yielding stable performance and lifting Top-3 accuracy on severe dysarthria (F02) from 10% to 40%. We also mathematically resolved the 590% WER artifact, proving it was caused by sentence token insertions on isolated word clips.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STUDENT 4 - ABLATION GATES (1.5 min):</a:t>
            </a:r>
          </a:p>
          <a:p>
            <a:r>
              <a:t>I am Student 4, leading System Integration and Scientific Verification. In Phase B1, we conducted an ablation to test whether synthetic dysarthria augmentations and word cuts could solve zero-shot transfer without personalization. Our findings provide a crucial scientific insight: adding word cuts immediately restored typical isolated digit accuracy from 9% to 30%. However, on dysarthric speakers, zero-shot transfer remained pinned at the 10% chance level. We enforced our scientific gate: because Gate 1 and Gate 2 were not met, we halted ungrounded claims. This proves our core thesis: pretraining alone cannot bridge pathological neuromotor distortion; personalized adaptation is strictly required.</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STUDENT 4 - DESKTOP APPLICATION &amp; AAC (1.5 min):</a:t>
            </a:r>
          </a:p>
          <a:p>
            <a:r>
              <a:t>To make our research practically useful, we deployed it in a standalone desktop application (vsr_app.py).</a:t>
            </a:r>
          </a:p>
          <a:p>
            <a:r>
              <a:t>Tab 1 provides baseline transcription with grammar-constrained slot snapping.</a:t>
            </a:r>
          </a:p>
          <a:p>
            <a:r>
              <a:t>Tab 2 provides our AAC Personalized Phrase mode. Users with dysarthria can enroll custom phrases like 'I need water' with just 3 to 5 clips. We extract BiGRU temporal embeddings and train a lightweight Ridge classifier, completely bypassing the fixed 51-word vocabulary.</a:t>
            </a:r>
          </a:p>
          <a:p>
            <a:r>
              <a:t>Tab 3 performs on-device few-shot adapter tuning in 12 seconds on an RTX 4050 GPU, allowing users to save their personalized model locally with 100% privacy.</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CONCLUSION &amp; Q&amp;A PREPARATION (1.0 min):</a:t>
            </a:r>
          </a:p>
          <a:p>
            <a:r>
              <a:t>In conclusion, we have designed, evaluated, and deployed a speaker-adaptive visual speech recognition system for dysarthric speakers. We proved that bottleneck adapters prevent catastrophic forgetting and achieve 40% Top-3 accuracy on severe cerebral palsy speech. We are now ready for the Question-and-Answer session covering our technical implementation, methodology, and hackathon impact. Thank you.</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14400" y="1005840"/>
            <a:ext cx="1371600" cy="73152"/>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188720"/>
            <a:ext cx="9144000" cy="365760"/>
          </a:xfrm>
          <a:prstGeom prst="rect">
            <a:avLst/>
          </a:prstGeom>
          <a:noFill/>
        </p:spPr>
        <p:txBody>
          <a:bodyPr wrap="none">
            <a:spAutoFit/>
          </a:bodyPr>
          <a:lstStyle/>
          <a:p>
            <a:pPr>
              <a:defRPr sz="1100" b="1">
                <a:solidFill>
                  <a:srgbClr val="0EA5E9"/>
                </a:solidFill>
                <a:latin typeface="Arial"/>
              </a:defRPr>
            </a:pPr>
            <a:r>
              <a:t>DEEP LEARNING CAPSTONE &amp; HACKATHON DEFENSE</a:t>
            </a:r>
          </a:p>
        </p:txBody>
      </p:sp>
      <p:sp>
        <p:nvSpPr>
          <p:cNvPr id="5" name="TextBox 4"/>
          <p:cNvSpPr txBox="1"/>
          <p:nvPr/>
        </p:nvSpPr>
        <p:spPr>
          <a:xfrm>
            <a:off x="914400" y="1554480"/>
            <a:ext cx="10332720" cy="1463040"/>
          </a:xfrm>
          <a:prstGeom prst="rect">
            <a:avLst/>
          </a:prstGeom>
          <a:noFill/>
        </p:spPr>
        <p:txBody>
          <a:bodyPr wrap="square">
            <a:spAutoFit/>
          </a:bodyPr>
          <a:lstStyle/>
          <a:p>
            <a:pPr>
              <a:defRPr sz="3600" b="1">
                <a:solidFill>
                  <a:srgbClr val="FFFFFF"/>
                </a:solidFill>
                <a:latin typeface="Trebuchet MS"/>
              </a:defRPr>
            </a:pPr>
            <a:r>
              <a:t>Speaker-Adaptive Visual Speech Recognition</a:t>
            </a:r>
          </a:p>
          <a:p>
            <a:pPr>
              <a:defRPr sz="2000">
                <a:solidFill>
                  <a:srgbClr val="0EA5E9"/>
                </a:solidFill>
                <a:latin typeface="Trebuchet MS"/>
              </a:defRPr>
            </a:pPr>
            <a:r>
              <a:t>Few-Shot Personalization for Dysarthric Speakers via Spatio-Temporal Networks</a:t>
            </a:r>
          </a:p>
        </p:txBody>
      </p:sp>
      <p:sp>
        <p:nvSpPr>
          <p:cNvPr id="6" name="TextBox 5"/>
          <p:cNvSpPr txBox="1"/>
          <p:nvPr/>
        </p:nvSpPr>
        <p:spPr>
          <a:xfrm>
            <a:off x="914400" y="3200400"/>
            <a:ext cx="10332720" cy="640080"/>
          </a:xfrm>
          <a:prstGeom prst="rect">
            <a:avLst/>
          </a:prstGeom>
          <a:noFill/>
        </p:spPr>
        <p:txBody>
          <a:bodyPr wrap="square">
            <a:spAutoFit/>
          </a:bodyPr>
          <a:lstStyle/>
          <a:p>
            <a:pPr>
              <a:defRPr sz="1300">
                <a:solidFill>
                  <a:srgbClr val="CBD5E1"/>
                </a:solidFill>
                <a:latin typeface="Arial"/>
              </a:defRPr>
            </a:pPr>
            <a:r>
              <a:t>A zero-audio lip-reading system that adapts to severe neuromotor speech distortion using only 1–5 examples per word with frozen 12.5M backbone representations.</a:t>
            </a:r>
          </a:p>
        </p:txBody>
      </p:sp>
      <p:sp>
        <p:nvSpPr>
          <p:cNvPr id="7" name="Rounded Rectangle 6"/>
          <p:cNvSpPr/>
          <p:nvPr/>
        </p:nvSpPr>
        <p:spPr>
          <a:xfrm>
            <a:off x="914400" y="4114800"/>
            <a:ext cx="2423160" cy="20116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a:lstStyle/>
          <a:p>
            <a:pPr algn="ctr">
              <a:defRPr sz="950" b="1">
                <a:solidFill>
                  <a:srgbClr val="0EA5E9"/>
                </a:solidFill>
                <a:latin typeface="Arial"/>
              </a:defRPr>
            </a:pPr>
            <a:r>
              <a:t>MODULE 1</a:t>
            </a:r>
          </a:p>
          <a:p>
            <a:pPr>
              <a:spcBef>
                <a:spcPts val="400"/>
              </a:spcBef>
              <a:defRPr sz="1200" b="1">
                <a:solidFill>
                  <a:srgbClr val="FFFFFF"/>
                </a:solidFill>
                <a:latin typeface="Trebuchet MS"/>
              </a:defRPr>
            </a:pPr>
            <a:r>
              <a:t>Student 1: Preprocessing Lead</a:t>
            </a:r>
          </a:p>
          <a:p>
            <a:pPr>
              <a:spcBef>
                <a:spcPts val="600"/>
              </a:spcBef>
              <a:defRPr sz="1000">
                <a:solidFill>
                  <a:srgbClr val="94A3B8"/>
                </a:solidFill>
                <a:latin typeface="Arial"/>
              </a:defRPr>
            </a:pPr>
            <a:r>
              <a:t>Face detection, stable median ROI, 25 FPS linear resampling, luminance match.</a:t>
            </a:r>
          </a:p>
        </p:txBody>
      </p:sp>
      <p:sp>
        <p:nvSpPr>
          <p:cNvPr id="8" name="Rounded Rectangle 7"/>
          <p:cNvSpPr/>
          <p:nvPr/>
        </p:nvSpPr>
        <p:spPr>
          <a:xfrm>
            <a:off x="3557016" y="4114800"/>
            <a:ext cx="2423160" cy="20116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a:lstStyle/>
          <a:p>
            <a:pPr algn="ctr">
              <a:defRPr sz="950" b="1">
                <a:solidFill>
                  <a:srgbClr val="0EA5E9"/>
                </a:solidFill>
                <a:latin typeface="Arial"/>
              </a:defRPr>
            </a:pPr>
            <a:r>
              <a:t>MODULE 2</a:t>
            </a:r>
          </a:p>
          <a:p>
            <a:pPr>
              <a:spcBef>
                <a:spcPts val="400"/>
              </a:spcBef>
              <a:defRPr sz="1200" b="1">
                <a:solidFill>
                  <a:srgbClr val="FFFFFF"/>
                </a:solidFill>
                <a:latin typeface="Trebuchet MS"/>
              </a:defRPr>
            </a:pPr>
            <a:r>
              <a:t>Student 2: DL Architect</a:t>
            </a:r>
          </a:p>
          <a:p>
            <a:pPr>
              <a:spcBef>
                <a:spcPts val="600"/>
              </a:spcBef>
              <a:defRPr sz="1000">
                <a:solidFill>
                  <a:srgbClr val="94A3B8"/>
                </a:solidFill>
                <a:latin typeface="Arial"/>
              </a:defRPr>
            </a:pPr>
            <a:r>
              <a:t>LipNet (3D-CNN + BiGRU + CTC), multi-speaker pretraining, word cuts.</a:t>
            </a:r>
          </a:p>
        </p:txBody>
      </p:sp>
      <p:sp>
        <p:nvSpPr>
          <p:cNvPr id="9" name="Rounded Rectangle 8"/>
          <p:cNvSpPr/>
          <p:nvPr/>
        </p:nvSpPr>
        <p:spPr>
          <a:xfrm>
            <a:off x="6199632" y="4114800"/>
            <a:ext cx="2423160" cy="20116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a:lstStyle/>
          <a:p>
            <a:pPr algn="ctr">
              <a:defRPr sz="950" b="1">
                <a:solidFill>
                  <a:srgbClr val="0EA5E9"/>
                </a:solidFill>
                <a:latin typeface="Arial"/>
              </a:defRPr>
            </a:pPr>
            <a:r>
              <a:t>MODULE 3</a:t>
            </a:r>
          </a:p>
          <a:p>
            <a:pPr>
              <a:spcBef>
                <a:spcPts val="400"/>
              </a:spcBef>
              <a:defRPr sz="1200" b="1">
                <a:solidFill>
                  <a:srgbClr val="FFFFFF"/>
                </a:solidFill>
                <a:latin typeface="Trebuchet MS"/>
              </a:defRPr>
            </a:pPr>
            <a:r>
              <a:t>Student 3: Adaptation Lead</a:t>
            </a:r>
          </a:p>
          <a:p>
            <a:pPr>
              <a:spcBef>
                <a:spcPts val="600"/>
              </a:spcBef>
              <a:defRPr sz="1000">
                <a:solidFill>
                  <a:srgbClr val="94A3B8"/>
                </a:solidFill>
                <a:latin typeface="Arial"/>
              </a:defRPr>
            </a:pPr>
            <a:r>
              <a:t>Residual bottleneck adapters, cosine prototype classifier, LOBO validation.</a:t>
            </a:r>
          </a:p>
        </p:txBody>
      </p:sp>
      <p:sp>
        <p:nvSpPr>
          <p:cNvPr id="10" name="Rounded Rectangle 9"/>
          <p:cNvSpPr/>
          <p:nvPr/>
        </p:nvSpPr>
        <p:spPr>
          <a:xfrm>
            <a:off x="8842248" y="4114800"/>
            <a:ext cx="2423160" cy="20116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a:lstStyle/>
          <a:p>
            <a:pPr algn="ctr">
              <a:defRPr sz="950" b="1">
                <a:solidFill>
                  <a:srgbClr val="0EA5E9"/>
                </a:solidFill>
                <a:latin typeface="Arial"/>
              </a:defRPr>
            </a:pPr>
            <a:r>
              <a:t>MODULE 4</a:t>
            </a:r>
          </a:p>
          <a:p>
            <a:pPr>
              <a:spcBef>
                <a:spcPts val="400"/>
              </a:spcBef>
              <a:defRPr sz="1200" b="1">
                <a:solidFill>
                  <a:srgbClr val="FFFFFF"/>
                </a:solidFill>
                <a:latin typeface="Trebuchet MS"/>
              </a:defRPr>
            </a:pPr>
            <a:r>
              <a:t>Student 4: Integration Lead</a:t>
            </a:r>
          </a:p>
          <a:p>
            <a:pPr>
              <a:spcBef>
                <a:spcPts val="600"/>
              </a:spcBef>
              <a:defRPr sz="1000">
                <a:solidFill>
                  <a:srgbClr val="94A3B8"/>
                </a:solidFill>
                <a:latin typeface="Arial"/>
              </a:defRPr>
            </a:pPr>
            <a:r>
              <a:t>Live desktop app (vsr_app.py), AAC phrase mode, Phase B1 failure gates.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315200" cy="320040"/>
          </a:xfrm>
          <a:prstGeom prst="rect">
            <a:avLst/>
          </a:prstGeom>
          <a:noFill/>
        </p:spPr>
        <p:txBody>
          <a:bodyPr wrap="square">
            <a:spAutoFit/>
          </a:bodyPr>
          <a:lstStyle/>
          <a:p>
            <a:pPr>
              <a:defRPr sz="1000" b="1">
                <a:solidFill>
                  <a:srgbClr val="2563EB"/>
                </a:solidFill>
                <a:latin typeface="Arial"/>
              </a:defRPr>
            </a:pPr>
            <a:r>
              <a:t>1. CLINICAL NEED &amp; MOTIVATION</a:t>
            </a:r>
          </a:p>
        </p:txBody>
      </p:sp>
      <p:sp>
        <p:nvSpPr>
          <p:cNvPr id="4" name="TextBox 3"/>
          <p:cNvSpPr txBox="1"/>
          <p:nvPr/>
        </p:nvSpPr>
        <p:spPr>
          <a:xfrm>
            <a:off x="731520" y="594360"/>
            <a:ext cx="7772400" cy="548640"/>
          </a:xfrm>
          <a:prstGeom prst="rect">
            <a:avLst/>
          </a:prstGeom>
          <a:noFill/>
        </p:spPr>
        <p:txBody>
          <a:bodyPr wrap="square">
            <a:spAutoFit/>
          </a:bodyPr>
          <a:lstStyle/>
          <a:p>
            <a:pPr>
              <a:defRPr sz="2200" b="1">
                <a:solidFill>
                  <a:srgbClr val="0F172A"/>
                </a:solidFill>
                <a:latin typeface="Trebuchet MS"/>
              </a:defRPr>
            </a:pPr>
            <a:r>
              <a:t>Problem Statement &amp; Clinical Motivation</a:t>
            </a:r>
          </a:p>
        </p:txBody>
      </p:sp>
      <p:sp>
        <p:nvSpPr>
          <p:cNvPr id="5" name="Rounded Rectangle 4"/>
          <p:cNvSpPr/>
          <p:nvPr/>
        </p:nvSpPr>
        <p:spPr>
          <a:xfrm>
            <a:off x="8778240" y="411480"/>
            <a:ext cx="2651760" cy="384048"/>
          </a:xfrm>
          <a:prstGeom prst="round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50" b="1">
                <a:solidFill>
                  <a:srgbClr val="FFFFFF"/>
                </a:solidFill>
                <a:latin typeface="Arial"/>
              </a:defRPr>
            </a:pPr>
            <a:r>
              <a:t>EVAL RUBRIC: COMPONENT 1 (5 MARKS)</a:t>
            </a:r>
          </a:p>
        </p:txBody>
      </p:sp>
      <p:sp>
        <p:nvSpPr>
          <p:cNvPr id="6" name="Rounded Rectangle 5"/>
          <p:cNvSpPr/>
          <p:nvPr/>
        </p:nvSpPr>
        <p:spPr>
          <a:xfrm>
            <a:off x="731520" y="1280160"/>
            <a:ext cx="3328416" cy="51206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a:lstStyle/>
          <a:p>
            <a:pPr algn="ctr">
              <a:defRPr b="1" sz="1100">
                <a:solidFill>
                  <a:srgbClr val="2563EB"/>
                </a:solidFill>
              </a:defRPr>
            </a:pPr>
            <a:r>
              <a:t>THE PROBLEM</a:t>
            </a:r>
          </a:p>
          <a:p>
            <a:pPr>
              <a:spcBef>
                <a:spcPts val="400"/>
              </a:spcBef>
              <a:defRPr b="1" sz="1500">
                <a:solidFill>
                  <a:srgbClr val="0F172A"/>
                </a:solidFill>
              </a:defRPr>
            </a:pPr>
            <a:r>
              <a:t>Dysarthric Speech Breakdown in Acoustic ASR</a:t>
            </a:r>
          </a:p>
          <a:p>
            <a:pPr>
              <a:spcBef>
                <a:spcPts val="800"/>
              </a:spcBef>
              <a:defRPr sz="1100">
                <a:solidFill>
                  <a:srgbClr val="0F172A"/>
                </a:solidFill>
              </a:defRPr>
            </a:pPr>
            <a:r>
              <a:t>• Dysarthria arises from neuromotor conditions (Cerebral Palsy, ALS, Stroke, Parkinson's).</a:t>
            </a:r>
          </a:p>
          <a:p>
            <a:pPr>
              <a:spcBef>
                <a:spcPts val="800"/>
              </a:spcBef>
              <a:defRPr sz="1100">
                <a:solidFill>
                  <a:srgbClr val="0F172A"/>
                </a:solidFill>
              </a:defRPr>
            </a:pPr>
            <a:r>
              <a:t>• Impaired vocal cord coordination, hypernasality, and acoustic distortion cause commercial Acoustic ASR (Siri, Alexa, Whisper) to suffer &gt;60–80% Word Error Rates.</a:t>
            </a:r>
          </a:p>
          <a:p>
            <a:pPr>
              <a:spcBef>
                <a:spcPts val="800"/>
              </a:spcBef>
              <a:defRPr sz="1100">
                <a:solidFill>
                  <a:srgbClr val="0F172A"/>
                </a:solidFill>
              </a:defRPr>
            </a:pPr>
            <a:r>
              <a:t>• Acoustic models fail completely in noisy environments or when vocal phonation is physically lost.</a:t>
            </a:r>
          </a:p>
          <a:p>
            <a:pPr>
              <a:spcBef>
                <a:spcPts val="800"/>
              </a:spcBef>
              <a:defRPr sz="1100">
                <a:solidFill>
                  <a:srgbClr val="0F172A"/>
                </a:solidFill>
              </a:defRPr>
            </a:pPr>
            <a:r>
              <a:t>• Voice-driven independence is completely denied to this vulnerable patient population.</a:t>
            </a:r>
          </a:p>
        </p:txBody>
      </p:sp>
      <p:sp>
        <p:nvSpPr>
          <p:cNvPr id="7" name="Rounded Rectangle 6"/>
          <p:cNvSpPr/>
          <p:nvPr/>
        </p:nvSpPr>
        <p:spPr>
          <a:xfrm>
            <a:off x="4425696" y="1280160"/>
            <a:ext cx="3328416" cy="51206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a:lstStyle/>
          <a:p>
            <a:pPr algn="ctr">
              <a:defRPr b="1" sz="1100">
                <a:solidFill>
                  <a:srgbClr val="059669"/>
                </a:solidFill>
              </a:defRPr>
            </a:pPr>
            <a:r>
              <a:t>WHY IT MATTERS</a:t>
            </a:r>
          </a:p>
          <a:p>
            <a:pPr>
              <a:spcBef>
                <a:spcPts val="400"/>
              </a:spcBef>
              <a:defRPr b="1" sz="1500">
                <a:solidFill>
                  <a:srgbClr val="0F172A"/>
                </a:solidFill>
              </a:defRPr>
            </a:pPr>
            <a:r>
              <a:t>Silent Visual Lip-Reading (VSR) as Assistive AAC</a:t>
            </a:r>
          </a:p>
          <a:p>
            <a:pPr>
              <a:spcBef>
                <a:spcPts val="800"/>
              </a:spcBef>
              <a:defRPr sz="1100">
                <a:solidFill>
                  <a:srgbClr val="0F172A"/>
                </a:solidFill>
              </a:defRPr>
            </a:pPr>
            <a:r>
              <a:t>• Visual Speech Recognition (VSR) decodes language entirely from mouth kinematics without requiring acoustic sound.</a:t>
            </a:r>
          </a:p>
          <a:p>
            <a:pPr>
              <a:spcBef>
                <a:spcPts val="800"/>
              </a:spcBef>
              <a:defRPr sz="1100">
                <a:solidFill>
                  <a:srgbClr val="0F172A"/>
                </a:solidFill>
              </a:defRPr>
            </a:pPr>
            <a:r>
              <a:t>• Completely immune to acoustic background noise and vocal cord degradation.</a:t>
            </a:r>
          </a:p>
          <a:p>
            <a:pPr>
              <a:spcBef>
                <a:spcPts val="800"/>
              </a:spcBef>
              <a:defRPr sz="1100">
                <a:solidFill>
                  <a:srgbClr val="0F172A"/>
                </a:solidFill>
              </a:defRPr>
            </a:pPr>
            <a:r>
              <a:t>• Enables silent hands-free communication, emergency phrase alerts, and smart home control for non-vocal users.</a:t>
            </a:r>
          </a:p>
          <a:p>
            <a:pPr>
              <a:spcBef>
                <a:spcPts val="800"/>
              </a:spcBef>
              <a:defRPr sz="1100">
                <a:solidFill>
                  <a:srgbClr val="0F172A"/>
                </a:solidFill>
              </a:defRPr>
            </a:pPr>
            <a:r>
              <a:t>• Preserves patient autonomy without requiring invasive surgery or expensive specialized hardware.</a:t>
            </a:r>
          </a:p>
        </p:txBody>
      </p:sp>
      <p:sp>
        <p:nvSpPr>
          <p:cNvPr id="8" name="Rounded Rectangle 7"/>
          <p:cNvSpPr/>
          <p:nvPr/>
        </p:nvSpPr>
        <p:spPr>
          <a:xfrm>
            <a:off x="8119872" y="1280160"/>
            <a:ext cx="3328416" cy="51206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a:lstStyle/>
          <a:p>
            <a:pPr algn="ctr">
              <a:defRPr b="1" sz="1100">
                <a:solidFill>
                  <a:srgbClr val="D97706"/>
                </a:solidFill>
              </a:defRPr>
            </a:pPr>
            <a:r>
              <a:t>RESEARCH GAP</a:t>
            </a:r>
          </a:p>
          <a:p>
            <a:pPr>
              <a:spcBef>
                <a:spcPts val="400"/>
              </a:spcBef>
              <a:defRPr b="1" sz="1500">
                <a:solidFill>
                  <a:srgbClr val="0F172A"/>
                </a:solidFill>
              </a:defRPr>
            </a:pPr>
            <a:r>
              <a:t>Why Standard VSR Fails on Dysarthria</a:t>
            </a:r>
          </a:p>
          <a:p>
            <a:pPr>
              <a:spcBef>
                <a:spcPts val="800"/>
              </a:spcBef>
              <a:defRPr sz="1100">
                <a:solidFill>
                  <a:srgbClr val="0F172A"/>
                </a:solidFill>
              </a:defRPr>
            </a:pPr>
            <a:r>
              <a:t>• Atypical Kinematics: Neurotypical models assume symmetric, rapid, precise lip opening. Dysarthric speakers exhibit reduced amplitude, spastic drift, and asymmetric motion.</a:t>
            </a:r>
          </a:p>
          <a:p>
            <a:pPr>
              <a:spcBef>
                <a:spcPts val="800"/>
              </a:spcBef>
              <a:defRPr sz="1100">
                <a:solidFill>
                  <a:srgbClr val="0F172A"/>
                </a:solidFill>
              </a:defRPr>
            </a:pPr>
            <a:r>
              <a:t>• Physical Fatigue Constraint: Individuals with cerebral palsy cannot record 50 hours of training data. Systems must adapt with &lt;= 5 examples.</a:t>
            </a:r>
          </a:p>
          <a:p>
            <a:pPr>
              <a:spcBef>
                <a:spcPts val="800"/>
              </a:spcBef>
              <a:defRPr sz="1100">
                <a:solidFill>
                  <a:srgbClr val="0F172A"/>
                </a:solidFill>
              </a:defRPr>
            </a:pPr>
            <a:r>
              <a:t>• Catastrophic Forgetting: Standard full network retraining on 5 examples causes weights to overfit and representations to collapse.</a:t>
            </a:r>
          </a:p>
          <a:p>
            <a:pPr>
              <a:spcBef>
                <a:spcPts val="800"/>
              </a:spcBef>
              <a:defRPr sz="1100">
                <a:solidFill>
                  <a:srgbClr val="0F172A"/>
                </a:solidFill>
              </a:defRPr>
            </a:pPr>
            <a:r>
              <a:t>• Camera Gap: Lab models fail on live webcams due to frame throttling (~17 FPS) and dim indoor illumination.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315200" cy="320040"/>
          </a:xfrm>
          <a:prstGeom prst="rect">
            <a:avLst/>
          </a:prstGeom>
          <a:noFill/>
        </p:spPr>
        <p:txBody>
          <a:bodyPr wrap="square">
            <a:spAutoFit/>
          </a:bodyPr>
          <a:lstStyle/>
          <a:p>
            <a:pPr>
              <a:defRPr sz="1000" b="1">
                <a:solidFill>
                  <a:srgbClr val="2563EB"/>
                </a:solidFill>
                <a:latin typeface="Arial"/>
              </a:defRPr>
            </a:pPr>
            <a:r>
              <a:t>2. SPECIFIC GOALS</a:t>
            </a:r>
          </a:p>
        </p:txBody>
      </p:sp>
      <p:sp>
        <p:nvSpPr>
          <p:cNvPr id="4" name="TextBox 3"/>
          <p:cNvSpPr txBox="1"/>
          <p:nvPr/>
        </p:nvSpPr>
        <p:spPr>
          <a:xfrm>
            <a:off x="731520" y="594360"/>
            <a:ext cx="7772400" cy="548640"/>
          </a:xfrm>
          <a:prstGeom prst="rect">
            <a:avLst/>
          </a:prstGeom>
          <a:noFill/>
        </p:spPr>
        <p:txBody>
          <a:bodyPr wrap="square">
            <a:spAutoFit/>
          </a:bodyPr>
          <a:lstStyle/>
          <a:p>
            <a:pPr>
              <a:defRPr sz="2200" b="1">
                <a:solidFill>
                  <a:srgbClr val="0F172A"/>
                </a:solidFill>
                <a:latin typeface="Trebuchet MS"/>
              </a:defRPr>
            </a:pPr>
            <a:r>
              <a:t>Project Objectives &amp; Measurable Milestones</a:t>
            </a:r>
          </a:p>
        </p:txBody>
      </p:sp>
      <p:sp>
        <p:nvSpPr>
          <p:cNvPr id="5" name="Rounded Rectangle 4"/>
          <p:cNvSpPr/>
          <p:nvPr/>
        </p:nvSpPr>
        <p:spPr>
          <a:xfrm>
            <a:off x="8778240" y="411480"/>
            <a:ext cx="2651760" cy="384048"/>
          </a:xfrm>
          <a:prstGeom prst="round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50" b="1">
                <a:solidFill>
                  <a:srgbClr val="FFFFFF"/>
                </a:solidFill>
                <a:latin typeface="Arial"/>
              </a:defRPr>
            </a:pPr>
            <a:r>
              <a:t>OBJECTIVES &amp; DELIVERABLES</a:t>
            </a:r>
          </a:p>
        </p:txBody>
      </p:sp>
      <p:sp>
        <p:nvSpPr>
          <p:cNvPr id="6" name="Rounded Rectangle 5"/>
          <p:cNvSpPr/>
          <p:nvPr/>
        </p:nvSpPr>
        <p:spPr>
          <a:xfrm>
            <a:off x="731520" y="1280160"/>
            <a:ext cx="10716768" cy="1143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74320" tIns="164592"/>
          <a:lstStyle/>
          <a:p>
            <a:pPr algn="ctr">
              <a:defRPr sz="1300" b="1">
                <a:solidFill>
                  <a:srgbClr val="2563EB"/>
                </a:solidFill>
                <a:latin typeface="Trebuchet MS"/>
              </a:defRPr>
            </a:pPr>
            <a:r>
              <a:t>MILESTONE 01  |  Goal 1: High-Capacity Spatio-Temporal Base Model</a:t>
            </a:r>
          </a:p>
          <a:p>
            <a:pPr>
              <a:spcBef>
                <a:spcPts val="300"/>
              </a:spcBef>
              <a:defRPr sz="1100">
                <a:solidFill>
                  <a:srgbClr val="0F172A"/>
                </a:solidFill>
                <a:latin typeface="Arial"/>
              </a:defRPr>
            </a:pPr>
            <a:r>
              <a:t>Train an end-to-end LipNet architecture (3D-CNN + BiGRU + CTC, 12.5M parameters) on multi-speaker typical speech (GRID corpus, 7,073 sentences across 8 speakers).</a:t>
            </a:r>
          </a:p>
          <a:p>
            <a:pPr>
              <a:spcBef>
                <a:spcPts val="200"/>
              </a:spcBef>
              <a:defRPr sz="1050" b="1">
                <a:solidFill>
                  <a:srgbClr val="059669"/>
                </a:solidFill>
                <a:latin typeface="Arial"/>
              </a:defRPr>
            </a:pPr>
            <a:r>
              <a:t>🎯 Target: Stable CTC convergence (&lt;0.10 loss), establish neurotypical upper bound benchmark.</a:t>
            </a:r>
          </a:p>
        </p:txBody>
      </p:sp>
      <p:sp>
        <p:nvSpPr>
          <p:cNvPr id="7" name="Rounded Rectangle 6"/>
          <p:cNvSpPr/>
          <p:nvPr/>
        </p:nvSpPr>
        <p:spPr>
          <a:xfrm>
            <a:off x="731520" y="2578608"/>
            <a:ext cx="10716768" cy="1143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74320" tIns="164592"/>
          <a:lstStyle/>
          <a:p>
            <a:pPr algn="ctr">
              <a:defRPr sz="1300" b="1">
                <a:solidFill>
                  <a:srgbClr val="2563EB"/>
                </a:solidFill>
                <a:latin typeface="Trebuchet MS"/>
              </a:defRPr>
            </a:pPr>
            <a:r>
              <a:t>MILESTONE 02  |  Goal 2: Jitter-Free ROI Extraction &amp; Live Decoupling</a:t>
            </a:r>
          </a:p>
          <a:p>
            <a:pPr>
              <a:spcBef>
                <a:spcPts val="300"/>
              </a:spcBef>
              <a:defRPr sz="1100">
                <a:solidFill>
                  <a:srgbClr val="0F172A"/>
                </a:solidFill>
                <a:latin typeface="Arial"/>
              </a:defRPr>
            </a:pPr>
            <a:r>
              <a:t>Eliminate inter-frame crop jitter that freezes 3D-CNN temporal kernels using median bounding boxes; decouple live webcam inference via timestamped 25.0 FPS linear index resampling.</a:t>
            </a:r>
          </a:p>
          <a:p>
            <a:pPr>
              <a:spcBef>
                <a:spcPts val="200"/>
              </a:spcBef>
              <a:defRPr sz="1050" b="1">
                <a:solidFill>
                  <a:srgbClr val="059669"/>
                </a:solidFill>
                <a:latin typeface="Arial"/>
              </a:defRPr>
            </a:pPr>
            <a:r>
              <a:t>🎯 Target: Ensure 100% temporal alignment between webcam and lab pretraining without dropped frames.</a:t>
            </a:r>
          </a:p>
        </p:txBody>
      </p:sp>
      <p:sp>
        <p:nvSpPr>
          <p:cNvPr id="8" name="Rounded Rectangle 7"/>
          <p:cNvSpPr/>
          <p:nvPr/>
        </p:nvSpPr>
        <p:spPr>
          <a:xfrm>
            <a:off x="731520" y="3877056"/>
            <a:ext cx="10716768" cy="1143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74320" tIns="164592"/>
          <a:lstStyle/>
          <a:p>
            <a:pPr algn="ctr">
              <a:defRPr sz="1300" b="1">
                <a:solidFill>
                  <a:srgbClr val="2563EB"/>
                </a:solidFill>
                <a:latin typeface="Trebuchet MS"/>
              </a:defRPr>
            </a:pPr>
            <a:r>
              <a:t>MILESTONE 03  |  Goal 3: Parameter-Efficient Few-Shot Adaptation (k=1 to 5)</a:t>
            </a:r>
          </a:p>
          <a:p>
            <a:pPr>
              <a:spcBef>
                <a:spcPts val="300"/>
              </a:spcBef>
              <a:defRPr sz="1100">
                <a:solidFill>
                  <a:srgbClr val="0F172A"/>
                </a:solidFill>
                <a:latin typeface="Arial"/>
              </a:defRPr>
            </a:pPr>
            <a:r>
              <a:t>Implement bottleneck residual adapters (~100K trainable parameters, 99.2% frozen backbone) and non-parametric cosine prototype classifiers to personalize on dysarthric speech.</a:t>
            </a:r>
          </a:p>
          <a:p>
            <a:pPr>
              <a:spcBef>
                <a:spcPts val="200"/>
              </a:spcBef>
              <a:defRPr sz="1050" b="1">
                <a:solidFill>
                  <a:srgbClr val="059669"/>
                </a:solidFill>
                <a:latin typeface="Arial"/>
              </a:defRPr>
            </a:pPr>
            <a:r>
              <a:t>🎯 Target: Prevent catastrophic forgetting on tiny data budgets; increase Top-3 accuracy to 40% on severe dysarthria.</a:t>
            </a:r>
          </a:p>
        </p:txBody>
      </p:sp>
      <p:sp>
        <p:nvSpPr>
          <p:cNvPr id="9" name="Rounded Rectangle 8"/>
          <p:cNvSpPr/>
          <p:nvPr/>
        </p:nvSpPr>
        <p:spPr>
          <a:xfrm>
            <a:off x="731520" y="5175504"/>
            <a:ext cx="10716768" cy="1143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74320" tIns="164592"/>
          <a:lstStyle/>
          <a:p>
            <a:pPr algn="ctr">
              <a:defRPr sz="1300" b="1">
                <a:solidFill>
                  <a:srgbClr val="2563EB"/>
                </a:solidFill>
                <a:latin typeface="Trebuchet MS"/>
              </a:defRPr>
            </a:pPr>
            <a:r>
              <a:t>MILESTONE 04  |  Goal 4: Scientific Gate Validation &amp; Real-Time Desktop App</a:t>
            </a:r>
          </a:p>
          <a:p>
            <a:pPr>
              <a:spcBef>
                <a:spcPts val="300"/>
              </a:spcBef>
              <a:defRPr sz="1100">
                <a:solidFill>
                  <a:srgbClr val="0F172A"/>
                </a:solidFill>
                <a:latin typeface="Arial"/>
              </a:defRPr>
            </a:pPr>
            <a:r>
              <a:t>Evaluate using Leave-One-Block-Out (LOBO) folds and exact Clopper-Pearson 95% CIs. Deploy a fully functional GUI application (vsr_app.py) supporting live webcam AAC phrase matching.</a:t>
            </a:r>
          </a:p>
          <a:p>
            <a:pPr>
              <a:spcBef>
                <a:spcPts val="200"/>
              </a:spcBef>
              <a:defRPr sz="1050" b="1">
                <a:solidFill>
                  <a:srgbClr val="059669"/>
                </a:solidFill>
                <a:latin typeface="Arial"/>
              </a:defRPr>
            </a:pPr>
            <a:r>
              <a:t>🎯 Target: Deliver a zero-audio assistive communication desktop tool running in real-time (&lt;30ms inference).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315200" cy="320040"/>
          </a:xfrm>
          <a:prstGeom prst="rect">
            <a:avLst/>
          </a:prstGeom>
          <a:noFill/>
        </p:spPr>
        <p:txBody>
          <a:bodyPr wrap="square">
            <a:spAutoFit/>
          </a:bodyPr>
          <a:lstStyle/>
          <a:p>
            <a:pPr>
              <a:defRPr sz="1000" b="1">
                <a:solidFill>
                  <a:srgbClr val="2563EB"/>
                </a:solidFill>
                <a:latin typeface="Arial"/>
              </a:defRPr>
            </a:pPr>
            <a:r>
              <a:t>3. RELATED WORK COMPARISON</a:t>
            </a:r>
          </a:p>
        </p:txBody>
      </p:sp>
      <p:sp>
        <p:nvSpPr>
          <p:cNvPr id="4" name="TextBox 3"/>
          <p:cNvSpPr txBox="1"/>
          <p:nvPr/>
        </p:nvSpPr>
        <p:spPr>
          <a:xfrm>
            <a:off x="731520" y="594360"/>
            <a:ext cx="7772400" cy="548640"/>
          </a:xfrm>
          <a:prstGeom prst="rect">
            <a:avLst/>
          </a:prstGeom>
          <a:noFill/>
        </p:spPr>
        <p:txBody>
          <a:bodyPr wrap="square">
            <a:spAutoFit/>
          </a:bodyPr>
          <a:lstStyle/>
          <a:p>
            <a:pPr>
              <a:defRPr sz="2200" b="1">
                <a:solidFill>
                  <a:srgbClr val="0F172A"/>
                </a:solidFill>
                <a:latin typeface="Trebuchet MS"/>
              </a:defRPr>
            </a:pPr>
            <a:r>
              <a:t>Literature Review &amp; State-of-the-Art Gap Analysis</a:t>
            </a:r>
          </a:p>
        </p:txBody>
      </p:sp>
      <p:sp>
        <p:nvSpPr>
          <p:cNvPr id="5" name="Rounded Rectangle 4"/>
          <p:cNvSpPr/>
          <p:nvPr/>
        </p:nvSpPr>
        <p:spPr>
          <a:xfrm>
            <a:off x="8778240" y="411480"/>
            <a:ext cx="2651760" cy="384048"/>
          </a:xfrm>
          <a:prstGeom prst="round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50" b="1">
                <a:solidFill>
                  <a:srgbClr val="FFFFFF"/>
                </a:solidFill>
                <a:latin typeface="Arial"/>
              </a:defRPr>
            </a:pPr>
            <a:r>
              <a:t>EVAL RUBRIC: COMPONENT 1 (5 MARKS)</a:t>
            </a:r>
          </a:p>
        </p:txBody>
      </p:sp>
      <p:graphicFrame>
        <p:nvGraphicFramePr>
          <p:cNvPr id="6" name="Table 5"/>
          <p:cNvGraphicFramePr>
            <a:graphicFrameLocks noGrp="1"/>
          </p:cNvGraphicFramePr>
          <p:nvPr/>
        </p:nvGraphicFramePr>
        <p:xfrm>
          <a:off x="731520" y="1280160"/>
          <a:ext cx="10716768" cy="4937760"/>
        </p:xfrm>
        <a:graphic>
          <a:graphicData uri="http://schemas.openxmlformats.org/drawingml/2006/table">
            <a:tbl>
              <a:tblPr firstRow="1" bandRow="1">
                <a:tableStyleId>{5C22544A-7EE6-4342-B048-85BDC9FD1C3A}</a:tableStyleId>
              </a:tblPr>
              <a:tblGrid>
                <a:gridCol w="2011680"/>
                <a:gridCol w="2011680"/>
                <a:gridCol w="2011680"/>
                <a:gridCol w="2286000"/>
                <a:gridCol w="2395728"/>
              </a:tblGrid>
              <a:tr h="987552">
                <a:tc>
                  <a:txBody>
                    <a:bodyPr/>
                    <a:lstStyle/>
                    <a:p>
                      <a:pPr algn="ctr">
                        <a:defRPr b="1" sz="1100">
                          <a:solidFill>
                            <a:srgbClr val="FFFFFF"/>
                          </a:solidFill>
                        </a:defRPr>
                      </a:pPr>
                      <a:r>
                        <a:t>Study &amp; Reference</a:t>
                      </a:r>
                    </a:p>
                  </a:txBody>
                  <a:tcPr>
                    <a:solidFill>
                      <a:srgbClr val="1E293B"/>
                    </a:solidFill>
                  </a:tcPr>
                </a:tc>
                <a:tc>
                  <a:txBody>
                    <a:bodyPr/>
                    <a:lstStyle/>
                    <a:p>
                      <a:pPr algn="ctr">
                        <a:defRPr b="1" sz="1100">
                          <a:solidFill>
                            <a:srgbClr val="FFFFFF"/>
                          </a:solidFill>
                        </a:defRPr>
                      </a:pPr>
                      <a:r>
                        <a:t>Model Architecture</a:t>
                      </a:r>
                    </a:p>
                  </a:txBody>
                  <a:tcPr>
                    <a:solidFill>
                      <a:srgbClr val="1E293B"/>
                    </a:solidFill>
                  </a:tcPr>
                </a:tc>
                <a:tc>
                  <a:txBody>
                    <a:bodyPr/>
                    <a:lstStyle/>
                    <a:p>
                      <a:pPr algn="ctr">
                        <a:defRPr b="1" sz="1100">
                          <a:solidFill>
                            <a:srgbClr val="FFFFFF"/>
                          </a:solidFill>
                        </a:defRPr>
                      </a:pPr>
                      <a:r>
                        <a:t>Target Population</a:t>
                      </a:r>
                    </a:p>
                  </a:txBody>
                  <a:tcPr>
                    <a:solidFill>
                      <a:srgbClr val="1E293B"/>
                    </a:solidFill>
                  </a:tcPr>
                </a:tc>
                <a:tc>
                  <a:txBody>
                    <a:bodyPr/>
                    <a:lstStyle/>
                    <a:p>
                      <a:pPr algn="ctr">
                        <a:defRPr b="1" sz="1100">
                          <a:solidFill>
                            <a:srgbClr val="FFFFFF"/>
                          </a:solidFill>
                        </a:defRPr>
                      </a:pPr>
                      <a:r>
                        <a:t>Key Contributions</a:t>
                      </a:r>
                    </a:p>
                  </a:txBody>
                  <a:tcPr>
                    <a:solidFill>
                      <a:srgbClr val="1E293B"/>
                    </a:solidFill>
                  </a:tcPr>
                </a:tc>
                <a:tc>
                  <a:txBody>
                    <a:bodyPr/>
                    <a:lstStyle/>
                    <a:p>
                      <a:pPr algn="ctr">
                        <a:defRPr b="1" sz="1100">
                          <a:solidFill>
                            <a:srgbClr val="FFFFFF"/>
                          </a:solidFill>
                        </a:defRPr>
                      </a:pPr>
                      <a:r>
                        <a:t>Critical Research Gap</a:t>
                      </a:r>
                    </a:p>
                  </a:txBody>
                  <a:tcPr>
                    <a:solidFill>
                      <a:srgbClr val="1E293B"/>
                    </a:solidFill>
                  </a:tcPr>
                </a:tc>
              </a:tr>
              <a:tr h="987552">
                <a:tc>
                  <a:txBody>
                    <a:bodyPr/>
                    <a:lstStyle/>
                    <a:p>
                      <a:pPr>
                        <a:defRPr sz="1050" b="1">
                          <a:solidFill>
                            <a:srgbClr val="0F172A"/>
                          </a:solidFill>
                          <a:latin typeface="Arial"/>
                        </a:defRPr>
                      </a:pPr>
                      <a:r>
                        <a:t>LipNet</a:t>
                      </a:r>
                      <a:br/>
                      <a:r>
                        <a:t>(Assael et al., 2016)</a:t>
                      </a:r>
                    </a:p>
                  </a:txBody>
                  <a:tcPr>
                    <a:solidFill>
                      <a:srgbClr val="FFFFFF"/>
                    </a:solidFill>
                  </a:tcPr>
                </a:tc>
                <a:tc>
                  <a:txBody>
                    <a:bodyPr/>
                    <a:lstStyle/>
                    <a:p>
                      <a:pPr>
                        <a:defRPr sz="950" b="0">
                          <a:solidFill>
                            <a:srgbClr val="0F172A"/>
                          </a:solidFill>
                          <a:latin typeface="Arial"/>
                        </a:defRPr>
                      </a:pPr>
                      <a:r>
                        <a:t>3D-CNN + 2-layer BiGRU + CTC Loss</a:t>
                      </a:r>
                    </a:p>
                  </a:txBody>
                  <a:tcPr>
                    <a:solidFill>
                      <a:srgbClr val="FFFFFF"/>
                    </a:solidFill>
                  </a:tcPr>
                </a:tc>
                <a:tc>
                  <a:txBody>
                    <a:bodyPr/>
                    <a:lstStyle/>
                    <a:p>
                      <a:pPr>
                        <a:defRPr sz="950" b="0">
                          <a:solidFill>
                            <a:srgbClr val="0F172A"/>
                          </a:solidFill>
                          <a:latin typeface="Arial"/>
                        </a:defRPr>
                      </a:pPr>
                      <a:r>
                        <a:t>GRID Corpus</a:t>
                      </a:r>
                      <a:br/>
                      <a:r>
                        <a:t>(Typical Speakers)</a:t>
                      </a:r>
                    </a:p>
                  </a:txBody>
                  <a:tcPr>
                    <a:solidFill>
                      <a:srgbClr val="FFFFFF"/>
                    </a:solidFill>
                  </a:tcPr>
                </a:tc>
                <a:tc>
                  <a:txBody>
                    <a:bodyPr/>
                    <a:lstStyle/>
                    <a:p>
                      <a:pPr>
                        <a:defRPr sz="950" b="0">
                          <a:solidFill>
                            <a:srgbClr val="0F172A"/>
                          </a:solidFill>
                          <a:latin typeface="Arial"/>
                        </a:defRPr>
                      </a:pPr>
                      <a:r>
                        <a:t>First end-to-end sentence-level VSR; 95.2% accuracy on lab data.</a:t>
                      </a:r>
                    </a:p>
                  </a:txBody>
                  <a:tcPr>
                    <a:solidFill>
                      <a:srgbClr val="FFFFFF"/>
                    </a:solidFill>
                  </a:tcPr>
                </a:tc>
                <a:tc>
                  <a:txBody>
                    <a:bodyPr/>
                    <a:lstStyle/>
                    <a:p>
                      <a:pPr>
                        <a:defRPr sz="950" b="0">
                          <a:solidFill>
                            <a:srgbClr val="0F172A"/>
                          </a:solidFill>
                          <a:latin typeface="Arial"/>
                        </a:defRPr>
                      </a:pPr>
                      <a:r>
                        <a:t>Fails completely on dysarthria; cannot handle isolated words without insertion errors.</a:t>
                      </a:r>
                    </a:p>
                  </a:txBody>
                  <a:tcPr>
                    <a:solidFill>
                      <a:srgbClr val="FFFFFF"/>
                    </a:solidFill>
                  </a:tcPr>
                </a:tc>
              </a:tr>
              <a:tr h="987552">
                <a:tc>
                  <a:txBody>
                    <a:bodyPr/>
                    <a:lstStyle/>
                    <a:p>
                      <a:pPr>
                        <a:defRPr sz="1050" b="1">
                          <a:solidFill>
                            <a:srgbClr val="0F172A"/>
                          </a:solidFill>
                          <a:latin typeface="Arial"/>
                        </a:defRPr>
                      </a:pPr>
                      <a:r>
                        <a:t>Deep Lip Reading</a:t>
                      </a:r>
                      <a:br/>
                      <a:r>
                        <a:t>(Afouras et al., 2018)</a:t>
                      </a:r>
                    </a:p>
                  </a:txBody>
                  <a:tcPr>
                    <a:solidFill>
                      <a:srgbClr val="F1F5F9"/>
                    </a:solidFill>
                  </a:tcPr>
                </a:tc>
                <a:tc>
                  <a:txBody>
                    <a:bodyPr/>
                    <a:lstStyle/>
                    <a:p>
                      <a:pPr>
                        <a:defRPr sz="950" b="0">
                          <a:solidFill>
                            <a:srgbClr val="0F172A"/>
                          </a:solidFill>
                          <a:latin typeface="Arial"/>
                        </a:defRPr>
                      </a:pPr>
                      <a:r>
                        <a:t>2D/3D ResNet + Transformer / Seq2Seq</a:t>
                      </a:r>
                    </a:p>
                  </a:txBody>
                  <a:tcPr>
                    <a:solidFill>
                      <a:srgbClr val="F1F5F9"/>
                    </a:solidFill>
                  </a:tcPr>
                </a:tc>
                <a:tc>
                  <a:txBody>
                    <a:bodyPr/>
                    <a:lstStyle/>
                    <a:p>
                      <a:pPr>
                        <a:defRPr sz="950" b="0">
                          <a:solidFill>
                            <a:srgbClr val="0F172A"/>
                          </a:solidFill>
                          <a:latin typeface="Arial"/>
                        </a:defRPr>
                      </a:pPr>
                      <a:r>
                        <a:t>LRS2 / LRS3</a:t>
                      </a:r>
                      <a:br/>
                      <a:r>
                        <a:t>(BBC Broadcasts)</a:t>
                      </a:r>
                    </a:p>
                  </a:txBody>
                  <a:tcPr>
                    <a:solidFill>
                      <a:srgbClr val="F1F5F9"/>
                    </a:solidFill>
                  </a:tcPr>
                </a:tc>
                <a:tc>
                  <a:txBody>
                    <a:bodyPr/>
                    <a:lstStyle/>
                    <a:p>
                      <a:pPr>
                        <a:defRPr sz="950" b="0">
                          <a:solidFill>
                            <a:srgbClr val="0F172A"/>
                          </a:solidFill>
                          <a:latin typeface="Arial"/>
                        </a:defRPr>
                      </a:pPr>
                      <a:r>
                        <a:t>Open-vocabulary sentence lip-reading in unconstrained video.</a:t>
                      </a:r>
                    </a:p>
                  </a:txBody>
                  <a:tcPr>
                    <a:solidFill>
                      <a:srgbClr val="F1F5F9"/>
                    </a:solidFill>
                  </a:tcPr>
                </a:tc>
                <a:tc>
                  <a:txBody>
                    <a:bodyPr/>
                    <a:lstStyle/>
                    <a:p>
                      <a:pPr>
                        <a:defRPr sz="950" b="0">
                          <a:solidFill>
                            <a:srgbClr val="0F172A"/>
                          </a:solidFill>
                          <a:latin typeface="Arial"/>
                        </a:defRPr>
                      </a:pPr>
                      <a:r>
                        <a:t>Requires tens of thousands of video hours; massive parameter footprint (&gt;100M); no few-shot adaptability.</a:t>
                      </a:r>
                    </a:p>
                  </a:txBody>
                  <a:tcPr>
                    <a:solidFill>
                      <a:srgbClr val="F1F5F9"/>
                    </a:solidFill>
                  </a:tcPr>
                </a:tc>
              </a:tr>
              <a:tr h="987552">
                <a:tc>
                  <a:txBody>
                    <a:bodyPr/>
                    <a:lstStyle/>
                    <a:p>
                      <a:pPr>
                        <a:defRPr sz="1050" b="1">
                          <a:solidFill>
                            <a:srgbClr val="0F172A"/>
                          </a:solidFill>
                          <a:latin typeface="Arial"/>
                        </a:defRPr>
                      </a:pPr>
                      <a:r>
                        <a:t>Acoustic Dysarthria ASR</a:t>
                      </a:r>
                      <a:br/>
                      <a:r>
                        <a:t>(Joy et al., 2022)</a:t>
                      </a:r>
                    </a:p>
                  </a:txBody>
                  <a:tcPr>
                    <a:solidFill>
                      <a:srgbClr val="FFFFFF"/>
                    </a:solidFill>
                  </a:tcPr>
                </a:tc>
                <a:tc>
                  <a:txBody>
                    <a:bodyPr/>
                    <a:lstStyle/>
                    <a:p>
                      <a:pPr>
                        <a:defRPr sz="950" b="0">
                          <a:solidFill>
                            <a:srgbClr val="0F172A"/>
                          </a:solidFill>
                          <a:latin typeface="Arial"/>
                        </a:defRPr>
                      </a:pPr>
                      <a:r>
                        <a:t>Conformer-CTC / WavLM + d-vector embeddings</a:t>
                      </a:r>
                    </a:p>
                  </a:txBody>
                  <a:tcPr>
                    <a:solidFill>
                      <a:srgbClr val="FFFFFF"/>
                    </a:solidFill>
                  </a:tcPr>
                </a:tc>
                <a:tc>
                  <a:txBody>
                    <a:bodyPr/>
                    <a:lstStyle/>
                    <a:p>
                      <a:pPr>
                        <a:defRPr sz="950" b="0">
                          <a:solidFill>
                            <a:srgbClr val="0F172A"/>
                          </a:solidFill>
                          <a:latin typeface="Arial"/>
                        </a:defRPr>
                      </a:pPr>
                      <a:r>
                        <a:t>UASpeech / TORGO</a:t>
                      </a:r>
                      <a:br/>
                      <a:r>
                        <a:t>(Acoustic Audio)</a:t>
                      </a:r>
                    </a:p>
                  </a:txBody>
                  <a:tcPr>
                    <a:solidFill>
                      <a:srgbClr val="FFFFFF"/>
                    </a:solidFill>
                  </a:tcPr>
                </a:tc>
                <a:tc>
                  <a:txBody>
                    <a:bodyPr/>
                    <a:lstStyle/>
                    <a:p>
                      <a:pPr>
                        <a:defRPr sz="950" b="0">
                          <a:solidFill>
                            <a:srgbClr val="0F172A"/>
                          </a:solidFill>
                          <a:latin typeface="Arial"/>
                        </a:defRPr>
                      </a:pPr>
                      <a:r>
                        <a:t>Speaker adaptation via acoustic embeddings on dysarthric speech.</a:t>
                      </a:r>
                    </a:p>
                  </a:txBody>
                  <a:tcPr>
                    <a:solidFill>
                      <a:srgbClr val="FFFFFF"/>
                    </a:solidFill>
                  </a:tcPr>
                </a:tc>
                <a:tc>
                  <a:txBody>
                    <a:bodyPr/>
                    <a:lstStyle/>
                    <a:p>
                      <a:pPr>
                        <a:defRPr sz="950" b="0">
                          <a:solidFill>
                            <a:srgbClr val="0F172A"/>
                          </a:solidFill>
                          <a:latin typeface="Arial"/>
                        </a:defRPr>
                      </a:pPr>
                      <a:r>
                        <a:t>Purely acoustic; completely fails when ambient noise is high or vocal cord phonation is physically absent.</a:t>
                      </a:r>
                    </a:p>
                  </a:txBody>
                  <a:tcPr>
                    <a:solidFill>
                      <a:srgbClr val="FFFFFF"/>
                    </a:solidFill>
                  </a:tcPr>
                </a:tc>
              </a:tr>
              <a:tr h="987552">
                <a:tc>
                  <a:txBody>
                    <a:bodyPr/>
                    <a:lstStyle/>
                    <a:p>
                      <a:pPr>
                        <a:defRPr sz="1050" b="1">
                          <a:solidFill>
                            <a:srgbClr val="2563EB"/>
                          </a:solidFill>
                          <a:latin typeface="Arial"/>
                        </a:defRPr>
                      </a:pPr>
                      <a:r>
                        <a:t>Our Proposed System</a:t>
                      </a:r>
                      <a:br/>
                      <a:r>
                        <a:t>(2026)</a:t>
                      </a:r>
                    </a:p>
                  </a:txBody>
                  <a:tcPr>
                    <a:solidFill>
                      <a:srgbClr val="EEF2FF"/>
                    </a:solidFill>
                  </a:tcPr>
                </a:tc>
                <a:tc>
                  <a:txBody>
                    <a:bodyPr/>
                    <a:lstStyle/>
                    <a:p>
                      <a:pPr>
                        <a:defRPr sz="950" b="1">
                          <a:solidFill>
                            <a:srgbClr val="0F172A"/>
                          </a:solidFill>
                          <a:latin typeface="Arial"/>
                        </a:defRPr>
                      </a:pPr>
                      <a:r>
                        <a:t>LipNet + Bottleneck Residual Adapter + Prototypes</a:t>
                      </a:r>
                    </a:p>
                  </a:txBody>
                  <a:tcPr>
                    <a:solidFill>
                      <a:srgbClr val="EEF2FF"/>
                    </a:solidFill>
                  </a:tcPr>
                </a:tc>
                <a:tc>
                  <a:txBody>
                    <a:bodyPr/>
                    <a:lstStyle/>
                    <a:p>
                      <a:pPr>
                        <a:defRPr sz="950" b="1">
                          <a:solidFill>
                            <a:srgbClr val="0F172A"/>
                          </a:solidFill>
                          <a:latin typeface="Arial"/>
                        </a:defRPr>
                      </a:pPr>
                      <a:r>
                        <a:t>GRID + UASpeech</a:t>
                      </a:r>
                      <a:br/>
                      <a:r>
                        <a:t>(Mild F05 &amp; Severe F02)</a:t>
                      </a:r>
                    </a:p>
                  </a:txBody>
                  <a:tcPr>
                    <a:solidFill>
                      <a:srgbClr val="EEF2FF"/>
                    </a:solidFill>
                  </a:tcPr>
                </a:tc>
                <a:tc>
                  <a:txBody>
                    <a:bodyPr/>
                    <a:lstStyle/>
                    <a:p>
                      <a:pPr>
                        <a:defRPr sz="950" b="1">
                          <a:solidFill>
                            <a:srgbClr val="0F172A"/>
                          </a:solidFill>
                          <a:latin typeface="Arial"/>
                        </a:defRPr>
                      </a:pPr>
                      <a:r>
                        <a:t>Adapts in 1–5 shots; 99.2% frozen backbone; LOBO exact CIs; live webcam calibrated.</a:t>
                      </a:r>
                    </a:p>
                  </a:txBody>
                  <a:tcPr>
                    <a:solidFill>
                      <a:srgbClr val="EEF2FF"/>
                    </a:solidFill>
                  </a:tcPr>
                </a:tc>
                <a:tc>
                  <a:txBody>
                    <a:bodyPr/>
                    <a:lstStyle/>
                    <a:p>
                      <a:pPr>
                        <a:defRPr sz="950" b="1">
                          <a:solidFill>
                            <a:srgbClr val="0F172A"/>
                          </a:solidFill>
                          <a:latin typeface="Arial"/>
                        </a:defRPr>
                      </a:pPr>
                      <a:r>
                        <a:t>Bridges neuromotor articulation gap under severe data fatigue with &lt;0.8% trainable parameters.</a:t>
                      </a:r>
                    </a:p>
                  </a:txBody>
                  <a:tcPr>
                    <a:solidFill>
                      <a:srgbClr val="EEF2FF"/>
                    </a:solidFill>
                  </a:tcPr>
                </a:tc>
              </a:tr>
            </a:tbl>
          </a:graphicData>
        </a:graphic>
      </p:graphicFrame>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315200" cy="320040"/>
          </a:xfrm>
          <a:prstGeom prst="rect">
            <a:avLst/>
          </a:prstGeom>
          <a:noFill/>
        </p:spPr>
        <p:txBody>
          <a:bodyPr wrap="square">
            <a:spAutoFit/>
          </a:bodyPr>
          <a:lstStyle/>
          <a:p>
            <a:pPr>
              <a:defRPr sz="1000" b="1">
                <a:solidFill>
                  <a:srgbClr val="2563EB"/>
                </a:solidFill>
                <a:latin typeface="Arial"/>
              </a:defRPr>
            </a:pPr>
            <a:r>
              <a:t>4. INNOVATION HIGHLIGHTS</a:t>
            </a:r>
          </a:p>
        </p:txBody>
      </p:sp>
      <p:sp>
        <p:nvSpPr>
          <p:cNvPr id="4" name="TextBox 3"/>
          <p:cNvSpPr txBox="1"/>
          <p:nvPr/>
        </p:nvSpPr>
        <p:spPr>
          <a:xfrm>
            <a:off x="731520" y="594360"/>
            <a:ext cx="7772400" cy="548640"/>
          </a:xfrm>
          <a:prstGeom prst="rect">
            <a:avLst/>
          </a:prstGeom>
          <a:noFill/>
        </p:spPr>
        <p:txBody>
          <a:bodyPr wrap="square">
            <a:spAutoFit/>
          </a:bodyPr>
          <a:lstStyle/>
          <a:p>
            <a:pPr>
              <a:defRPr sz="2200" b="1">
                <a:solidFill>
                  <a:srgbClr val="0F172A"/>
                </a:solidFill>
                <a:latin typeface="Trebuchet MS"/>
              </a:defRPr>
            </a:pPr>
            <a:r>
              <a:t>Novelty, Technical Innovation &amp; Team Contributions</a:t>
            </a:r>
          </a:p>
        </p:txBody>
      </p:sp>
      <p:sp>
        <p:nvSpPr>
          <p:cNvPr id="5" name="Rounded Rectangle 4"/>
          <p:cNvSpPr/>
          <p:nvPr/>
        </p:nvSpPr>
        <p:spPr>
          <a:xfrm>
            <a:off x="8778240" y="411480"/>
            <a:ext cx="2651760" cy="384048"/>
          </a:xfrm>
          <a:prstGeom prst="round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50" b="1">
                <a:solidFill>
                  <a:srgbClr val="FFFFFF"/>
                </a:solidFill>
                <a:latin typeface="Arial"/>
              </a:defRPr>
            </a:pPr>
            <a:r>
              <a:t>EVAL RUBRIC: COMPONENT 2 (5 MARKS)</a:t>
            </a:r>
          </a:p>
        </p:txBody>
      </p:sp>
      <p:sp>
        <p:nvSpPr>
          <p:cNvPr id="6" name="Rounded Rectangle 5"/>
          <p:cNvSpPr/>
          <p:nvPr/>
        </p:nvSpPr>
        <p:spPr>
          <a:xfrm>
            <a:off x="731520" y="1371600"/>
            <a:ext cx="5230368" cy="23774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a:lstStyle/>
          <a:p>
            <a:pPr algn="ctr">
              <a:defRPr sz="1400" b="1">
                <a:solidFill>
                  <a:srgbClr val="2563EB"/>
                </a:solidFill>
                <a:latin typeface="Trebuchet MS"/>
              </a:defRPr>
            </a:pPr>
            <a:r>
              <a:t>01. Parameter-Efficient Bottleneck Adapters</a:t>
            </a:r>
          </a:p>
          <a:p>
            <a:pPr>
              <a:spcBef>
                <a:spcPts val="800"/>
              </a:spcBef>
              <a:defRPr sz="1100">
                <a:solidFill>
                  <a:srgbClr val="0F172A"/>
                </a:solidFill>
                <a:latin typeface="Arial"/>
              </a:defRPr>
            </a:pPr>
            <a:r>
              <a:t>Instead of retraining all 12.5M weights, we freeze 99.2% of the network and insert residual bottleneck adapters (512 -&gt; 64 -&gt; 512). This restricts gradient updates to ~100K parameters, completely preventing catastrophic forgetting under extreme low-data regimes.</a:t>
            </a:r>
          </a:p>
        </p:txBody>
      </p:sp>
      <p:sp>
        <p:nvSpPr>
          <p:cNvPr id="7" name="Rounded Rectangle 6"/>
          <p:cNvSpPr/>
          <p:nvPr/>
        </p:nvSpPr>
        <p:spPr>
          <a:xfrm>
            <a:off x="6217920" y="1371600"/>
            <a:ext cx="5230368" cy="23774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a:lstStyle/>
          <a:p>
            <a:pPr algn="ctr">
              <a:defRPr sz="1400" b="1">
                <a:solidFill>
                  <a:srgbClr val="059669"/>
                </a:solidFill>
                <a:latin typeface="Trebuchet MS"/>
              </a:defRPr>
            </a:pPr>
            <a:r>
              <a:t>02. Non-Parametric Cosine Prototype Classifiers</a:t>
            </a:r>
          </a:p>
          <a:p>
            <a:pPr>
              <a:spcBef>
                <a:spcPts val="800"/>
              </a:spcBef>
              <a:defRPr sz="1100">
                <a:solidFill>
                  <a:srgbClr val="0F172A"/>
                </a:solidFill>
                <a:latin typeface="Arial"/>
              </a:defRPr>
            </a:pPr>
            <a:r>
              <a:t>We designed a zero-gradient adaptation mode using BiGRU temporal embeddings. Class centroids are computed from support shots, enabling instant 1-shot personalization with cosine similarity and zero backpropagation steps.</a:t>
            </a:r>
          </a:p>
        </p:txBody>
      </p:sp>
      <p:sp>
        <p:nvSpPr>
          <p:cNvPr id="8" name="Rounded Rectangle 7"/>
          <p:cNvSpPr/>
          <p:nvPr/>
        </p:nvSpPr>
        <p:spPr>
          <a:xfrm>
            <a:off x="731520" y="3931920"/>
            <a:ext cx="5230368" cy="23774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a:lstStyle/>
          <a:p>
            <a:pPr algn="ctr">
              <a:defRPr sz="1400" b="1">
                <a:solidFill>
                  <a:srgbClr val="D97706"/>
                </a:solidFill>
                <a:latin typeface="Trebuchet MS"/>
              </a:defRPr>
            </a:pPr>
            <a:r>
              <a:t>03. Scientific Rigor: LOBO Folds &amp; Exact Binomial CIs</a:t>
            </a:r>
          </a:p>
          <a:p>
            <a:pPr>
              <a:spcBef>
                <a:spcPts val="800"/>
              </a:spcBef>
              <a:defRPr sz="1100">
                <a:solidFill>
                  <a:srgbClr val="0F172A"/>
                </a:solidFill>
                <a:latin typeface="Arial"/>
              </a:defRPr>
            </a:pPr>
            <a:r>
              <a:t>Unlike prior works that report overfitted random clip splits, we enforce Leave-One-Block-Out (LOBO) validation across completely separate recording sessions and compute exact Clopper-Pearson 95% confidence intervals to eliminate session bias.</a:t>
            </a:r>
          </a:p>
        </p:txBody>
      </p:sp>
      <p:sp>
        <p:nvSpPr>
          <p:cNvPr id="9" name="Rounded Rectangle 8"/>
          <p:cNvSpPr/>
          <p:nvPr/>
        </p:nvSpPr>
        <p:spPr>
          <a:xfrm>
            <a:off x="6217920" y="3931920"/>
            <a:ext cx="5230368" cy="23774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a:lstStyle/>
          <a:p>
            <a:pPr algn="ctr">
              <a:defRPr sz="1400" b="1">
                <a:solidFill>
                  <a:srgbClr val="0F172A"/>
                </a:solidFill>
                <a:latin typeface="Trebuchet MS"/>
              </a:defRPr>
            </a:pPr>
            <a:r>
              <a:t>04. Real-Time Hardware-Decoupled Live AAC System</a:t>
            </a:r>
          </a:p>
          <a:p>
            <a:pPr>
              <a:spcBef>
                <a:spcPts val="800"/>
              </a:spcBef>
              <a:defRPr sz="1100">
                <a:solidFill>
                  <a:srgbClr val="0F172A"/>
                </a:solidFill>
                <a:latin typeface="Arial"/>
              </a:defRPr>
            </a:pPr>
            <a:r>
              <a:t>We built a complete GUI tool with background-threaded 25.0 FPS timestamp resampling (defeating OS frame throttling) and statistical luminance matching (mu=148, sigma=27) preventing ReLU dead-zone collapse on consumer webcams.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315200" cy="320040"/>
          </a:xfrm>
          <a:prstGeom prst="rect">
            <a:avLst/>
          </a:prstGeom>
          <a:noFill/>
        </p:spPr>
        <p:txBody>
          <a:bodyPr wrap="square">
            <a:spAutoFit/>
          </a:bodyPr>
          <a:lstStyle/>
          <a:p>
            <a:pPr>
              <a:defRPr sz="1000" b="1">
                <a:solidFill>
                  <a:srgbClr val="2563EB"/>
                </a:solidFill>
                <a:latin typeface="Arial"/>
              </a:defRPr>
            </a:pPr>
            <a:r>
              <a:t>5. EXPERIMENTAL DATA</a:t>
            </a:r>
          </a:p>
        </p:txBody>
      </p:sp>
      <p:sp>
        <p:nvSpPr>
          <p:cNvPr id="4" name="TextBox 3"/>
          <p:cNvSpPr txBox="1"/>
          <p:nvPr/>
        </p:nvSpPr>
        <p:spPr>
          <a:xfrm>
            <a:off x="731520" y="594360"/>
            <a:ext cx="7772400" cy="548640"/>
          </a:xfrm>
          <a:prstGeom prst="rect">
            <a:avLst/>
          </a:prstGeom>
          <a:noFill/>
        </p:spPr>
        <p:txBody>
          <a:bodyPr wrap="square">
            <a:spAutoFit/>
          </a:bodyPr>
          <a:lstStyle/>
          <a:p>
            <a:pPr>
              <a:defRPr sz="2200" b="1">
                <a:solidFill>
                  <a:srgbClr val="0F172A"/>
                </a:solidFill>
                <a:latin typeface="Trebuchet MS"/>
              </a:defRPr>
            </a:pPr>
            <a:r>
              <a:t>Dataset Curation, Domain Split &amp; Vocabulary</a:t>
            </a:r>
          </a:p>
        </p:txBody>
      </p:sp>
      <p:sp>
        <p:nvSpPr>
          <p:cNvPr id="5" name="Rounded Rectangle 4"/>
          <p:cNvSpPr/>
          <p:nvPr/>
        </p:nvSpPr>
        <p:spPr>
          <a:xfrm>
            <a:off x="8778240" y="411480"/>
            <a:ext cx="2651760" cy="384048"/>
          </a:xfrm>
          <a:prstGeom prst="round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50" b="1">
                <a:solidFill>
                  <a:srgbClr val="FFFFFF"/>
                </a:solidFill>
                <a:latin typeface="Arial"/>
              </a:defRPr>
            </a:pPr>
            <a:r>
              <a:t>STUDENT 1: MODULE 1 (3.5 MINS)</a:t>
            </a:r>
          </a:p>
        </p:txBody>
      </p:sp>
      <p:sp>
        <p:nvSpPr>
          <p:cNvPr id="6" name="Rounded Rectangle 5"/>
          <p:cNvSpPr/>
          <p:nvPr/>
        </p:nvSpPr>
        <p:spPr>
          <a:xfrm>
            <a:off x="731520" y="1280160"/>
            <a:ext cx="5230368" cy="51206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a:lstStyle/>
          <a:p>
            <a:pPr algn="ctr">
              <a:defRPr b="1" sz="1200">
                <a:solidFill>
                  <a:srgbClr val="2563EB"/>
                </a:solidFill>
              </a:defRPr>
            </a:pPr>
            <a:r>
              <a:t>SOURCE DOMAIN: GRID CORPUS (TYPICAL)</a:t>
            </a:r>
          </a:p>
          <a:p>
            <a:pPr>
              <a:spcBef>
                <a:spcPts val="200"/>
              </a:spcBef>
              <a:defRPr b="1" sz="1600">
                <a:solidFill>
                  <a:srgbClr val="0F172A"/>
                </a:solidFill>
              </a:defRPr>
            </a:pPr>
            <a:r>
              <a:t>Multi-Speaker Laboratory Benchmark</a:t>
            </a:r>
          </a:p>
          <a:p>
            <a:pPr>
              <a:spcBef>
                <a:spcPts val="600"/>
              </a:spcBef>
              <a:defRPr sz="1100">
                <a:solidFill>
                  <a:srgbClr val="0F172A"/>
                </a:solidFill>
              </a:defRPr>
            </a:pPr>
            <a:r>
              <a:t>• Speakers: 8 neurotypical speakers (s1, s2, s3, s4, s5, s6, s7, s8).</a:t>
            </a:r>
          </a:p>
          <a:p>
            <a:pPr>
              <a:spcBef>
                <a:spcPts val="600"/>
              </a:spcBef>
              <a:defRPr sz="1100">
                <a:solidFill>
                  <a:srgbClr val="0F172A"/>
                </a:solidFill>
              </a:defRPr>
            </a:pPr>
            <a:r>
              <a:t>• Total Sentence Clips: 7,859 preprocessed clips (75 frames @ 25 FPS, 50x100 mouth crops).</a:t>
            </a:r>
          </a:p>
          <a:p>
            <a:pPr>
              <a:spcBef>
                <a:spcPts val="600"/>
              </a:spcBef>
              <a:defRPr sz="1100">
                <a:solidFill>
                  <a:srgbClr val="0F172A"/>
                </a:solidFill>
              </a:defRPr>
            </a:pPr>
            <a:r>
              <a:t>• Total Word Tokens: 47,154 word occurrences across 6 syntactic slots.</a:t>
            </a:r>
          </a:p>
          <a:p>
            <a:pPr>
              <a:spcBef>
                <a:spcPts val="600"/>
              </a:spcBef>
              <a:defRPr sz="1100">
                <a:solidFill>
                  <a:srgbClr val="0F172A"/>
                </a:solidFill>
              </a:defRPr>
            </a:pPr>
            <a:r>
              <a:t>• Vocabulary: 51 unique words (4 commands, 4 colors, 4 prepositions, 25 letters, 10 digits, 4 adverbs).</a:t>
            </a:r>
          </a:p>
          <a:p>
            <a:pPr>
              <a:spcBef>
                <a:spcPts val="600"/>
              </a:spcBef>
              <a:defRPr sz="1100">
                <a:solidFill>
                  <a:srgbClr val="0F172A"/>
                </a:solidFill>
              </a:defRPr>
            </a:pPr>
            <a:r>
              <a:t>• Class Balance: Balanced by design across sentence grammar templates.</a:t>
            </a:r>
          </a:p>
          <a:p>
            <a:pPr>
              <a:spcBef>
                <a:spcPts val="600"/>
              </a:spcBef>
              <a:defRPr sz="1100">
                <a:solidFill>
                  <a:srgbClr val="0F172A"/>
                </a:solidFill>
              </a:defRPr>
            </a:pPr>
            <a:r>
              <a:t>• Split Strategy: 90% pretraining (7,073 clips), 10% test (786 clips). Gate evaluation holds out s7 &amp; s8 as strictly unseen speakers (5,984 train clips).</a:t>
            </a:r>
          </a:p>
        </p:txBody>
      </p:sp>
      <p:sp>
        <p:nvSpPr>
          <p:cNvPr id="7" name="Rounded Rectangle 6"/>
          <p:cNvSpPr/>
          <p:nvPr/>
        </p:nvSpPr>
        <p:spPr>
          <a:xfrm>
            <a:off x="6217920" y="1280160"/>
            <a:ext cx="5230368" cy="51206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a:lstStyle/>
          <a:p>
            <a:pPr algn="ctr">
              <a:defRPr b="1" sz="1200">
                <a:solidFill>
                  <a:srgbClr val="059669"/>
                </a:solidFill>
              </a:defRPr>
            </a:pPr>
            <a:r>
              <a:t>TARGET DOMAIN: UASPEECH (DYSARTHRIC)</a:t>
            </a:r>
          </a:p>
          <a:p>
            <a:pPr>
              <a:spcBef>
                <a:spcPts val="200"/>
              </a:spcBef>
              <a:defRPr b="1" sz="1600">
                <a:solidFill>
                  <a:srgbClr val="0F172A"/>
                </a:solidFill>
              </a:defRPr>
            </a:pPr>
            <a:r>
              <a:t>Pathological Speech with Cerebral Palsy</a:t>
            </a:r>
          </a:p>
          <a:p>
            <a:pPr>
              <a:spcBef>
                <a:spcPts val="600"/>
              </a:spcBef>
              <a:defRPr sz="1100">
                <a:solidFill>
                  <a:srgbClr val="0F172A"/>
                </a:solidFill>
              </a:defRPr>
            </a:pPr>
            <a:r>
              <a:t>• Patient Cohort: F05 (Mild dysarthria, 95% intelligibility) and F02 (Severe dysarthria, 29% intelligibility).</a:t>
            </a:r>
          </a:p>
          <a:p>
            <a:pPr>
              <a:spcBef>
                <a:spcPts val="600"/>
              </a:spcBef>
              <a:defRPr sz="1100">
                <a:solidFill>
                  <a:srgbClr val="0F172A"/>
                </a:solidFill>
              </a:defRPr>
            </a:pPr>
            <a:r>
              <a:t>• Structure: 3 independent recording blocks (B1, B2, B3) per speaker.</a:t>
            </a:r>
          </a:p>
          <a:p>
            <a:pPr>
              <a:spcBef>
                <a:spcPts val="600"/>
              </a:spcBef>
              <a:defRPr sz="1100">
                <a:solidFill>
                  <a:srgbClr val="0F172A"/>
                </a:solidFill>
              </a:defRPr>
            </a:pPr>
            <a:r>
              <a:t>• Total Segmented Clips: 765 word clips for F05, 509 word clips for F02.</a:t>
            </a:r>
          </a:p>
          <a:p>
            <a:pPr>
              <a:spcBef>
                <a:spcPts val="600"/>
              </a:spcBef>
              <a:defRPr sz="1100">
                <a:solidFill>
                  <a:srgbClr val="0F172A"/>
                </a:solidFill>
              </a:defRPr>
            </a:pPr>
            <a:r>
              <a:t>• Evaluation Class Set: 10 isolated digits (0–9) for controlled few-shot personalization; 155 repeated vocabulary words.</a:t>
            </a:r>
          </a:p>
          <a:p>
            <a:pPr>
              <a:spcBef>
                <a:spcPts val="600"/>
              </a:spcBef>
              <a:defRPr sz="1100">
                <a:solidFill>
                  <a:srgbClr val="0F172A"/>
                </a:solidFill>
              </a:defRPr>
            </a:pPr>
            <a:r>
              <a:t>• Split Protocol: Strict Leave-One-Block-Out (LOBO) cross-validation. 2 blocks support, 1 block held-out test. Zero session overlap.</a:t>
            </a:r>
          </a:p>
          <a:p>
            <a:pPr>
              <a:spcBef>
                <a:spcPts val="600"/>
              </a:spcBef>
              <a:defRPr sz="1100">
                <a:solidFill>
                  <a:srgbClr val="0F172A"/>
                </a:solidFill>
              </a:defRPr>
            </a:pPr>
            <a:r>
              <a:t>• Verified Control Status: Local UASpeech archives contain pathological speakers only (no control CF*/CM* videos exist locally).</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315200" cy="320040"/>
          </a:xfrm>
          <a:prstGeom prst="rect">
            <a:avLst/>
          </a:prstGeom>
          <a:noFill/>
        </p:spPr>
        <p:txBody>
          <a:bodyPr wrap="square">
            <a:spAutoFit/>
          </a:bodyPr>
          <a:lstStyle/>
          <a:p>
            <a:pPr>
              <a:defRPr sz="1000" b="1">
                <a:solidFill>
                  <a:srgbClr val="2563EB"/>
                </a:solidFill>
                <a:latin typeface="Arial"/>
              </a:defRPr>
            </a:pPr>
            <a:r>
              <a:t>6. DATA PREPROCESSING PIPELINE</a:t>
            </a:r>
          </a:p>
        </p:txBody>
      </p:sp>
      <p:sp>
        <p:nvSpPr>
          <p:cNvPr id="4" name="TextBox 3"/>
          <p:cNvSpPr txBox="1"/>
          <p:nvPr/>
        </p:nvSpPr>
        <p:spPr>
          <a:xfrm>
            <a:off x="731520" y="594360"/>
            <a:ext cx="7772400" cy="548640"/>
          </a:xfrm>
          <a:prstGeom prst="rect">
            <a:avLst/>
          </a:prstGeom>
          <a:noFill/>
        </p:spPr>
        <p:txBody>
          <a:bodyPr wrap="square">
            <a:spAutoFit/>
          </a:bodyPr>
          <a:lstStyle/>
          <a:p>
            <a:pPr>
              <a:defRPr sz="2200" b="1">
                <a:solidFill>
                  <a:srgbClr val="0F172A"/>
                </a:solidFill>
                <a:latin typeface="Trebuchet MS"/>
              </a:defRPr>
            </a:pPr>
            <a:r>
              <a:t>Mouth ROI Extraction, Temporal Resampling &amp; Leakage Prevention</a:t>
            </a:r>
          </a:p>
        </p:txBody>
      </p:sp>
      <p:sp>
        <p:nvSpPr>
          <p:cNvPr id="5" name="Rounded Rectangle 4"/>
          <p:cNvSpPr/>
          <p:nvPr/>
        </p:nvSpPr>
        <p:spPr>
          <a:xfrm>
            <a:off x="8778240" y="411480"/>
            <a:ext cx="2651760" cy="384048"/>
          </a:xfrm>
          <a:prstGeom prst="round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50" b="1">
                <a:solidFill>
                  <a:srgbClr val="FFFFFF"/>
                </a:solidFill>
                <a:latin typeface="Arial"/>
              </a:defRPr>
            </a:pPr>
            <a:r>
              <a:t>STUDENT 1: MODULE 1</a:t>
            </a:r>
          </a:p>
        </p:txBody>
      </p:sp>
      <p:sp>
        <p:nvSpPr>
          <p:cNvPr id="6" name="Rounded Rectangle 5"/>
          <p:cNvSpPr/>
          <p:nvPr/>
        </p:nvSpPr>
        <p:spPr>
          <a:xfrm>
            <a:off x="731520" y="1280160"/>
            <a:ext cx="3328416" cy="51206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01168" tIns="201168"/>
          <a:lstStyle/>
          <a:p>
            <a:pPr algn="ctr">
              <a:defRPr b="1" sz="1100">
                <a:solidFill>
                  <a:srgbClr val="2563EB"/>
                </a:solidFill>
              </a:defRPr>
            </a:pPr>
            <a:r>
              <a:t>STEP 1: ROI STABILIZATION</a:t>
            </a:r>
          </a:p>
          <a:p>
            <a:pPr>
              <a:spcBef>
                <a:spcPts val="300"/>
              </a:spcBef>
              <a:defRPr b="1" sz="1400">
                <a:solidFill>
                  <a:srgbClr val="0F172A"/>
                </a:solidFill>
              </a:defRPr>
            </a:pPr>
            <a:r>
              <a:t>Median Bounding Box Fix</a:t>
            </a:r>
          </a:p>
          <a:p>
            <a:pPr>
              <a:spcBef>
                <a:spcPts val="600"/>
              </a:spcBef>
              <a:defRPr sz="1050">
                <a:solidFill>
                  <a:srgbClr val="0F172A"/>
                </a:solidFill>
              </a:defRPr>
            </a:pPr>
            <a:r>
              <a:t>• Prior Failure Mode: Per-frame Haar face detection caused the crop box to jitter across frames, destroying the optical flow and pinning CTC loss at chance (ln 4 = 1.386).</a:t>
            </a:r>
          </a:p>
          <a:p>
            <a:pPr>
              <a:spcBef>
                <a:spcPts val="600"/>
              </a:spcBef>
              <a:defRPr sz="1050">
                <a:solidFill>
                  <a:srgbClr val="0F172A"/>
                </a:solidFill>
              </a:defRPr>
            </a:pPr>
            <a:r>
              <a:t>• Our Engineering Solution: Sample 8 frames across the clip, detect face coordinates, and compute the MEDIAN box [x, y, w, h].</a:t>
            </a:r>
          </a:p>
          <a:p>
            <a:pPr>
              <a:spcBef>
                <a:spcPts val="600"/>
              </a:spcBef>
              <a:defRPr sz="1050">
                <a:solidFill>
                  <a:srgbClr val="0F172A"/>
                </a:solidFill>
              </a:defRPr>
            </a:pPr>
            <a:r>
              <a:t>• Extract mouth crop: y in [y + 0.58h, y + 1.02h], x in [x + 0.16w, x + 0.84w].</a:t>
            </a:r>
          </a:p>
          <a:p>
            <a:pPr>
              <a:spcBef>
                <a:spcPts val="600"/>
              </a:spcBef>
              <a:defRPr sz="1050">
                <a:solidFill>
                  <a:srgbClr val="0F172A"/>
                </a:solidFill>
              </a:defRPr>
            </a:pPr>
            <a:r>
              <a:t>• Stabilizes spatio-temporal alignment across 100% of video frames.</a:t>
            </a:r>
          </a:p>
        </p:txBody>
      </p:sp>
      <p:sp>
        <p:nvSpPr>
          <p:cNvPr id="7" name="Rounded Rectangle 6"/>
          <p:cNvSpPr/>
          <p:nvPr/>
        </p:nvSpPr>
        <p:spPr>
          <a:xfrm>
            <a:off x="4425696" y="1280160"/>
            <a:ext cx="3328416" cy="51206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01168" tIns="201168"/>
          <a:lstStyle/>
          <a:p>
            <a:pPr algn="ctr">
              <a:defRPr b="1" sz="1100">
                <a:solidFill>
                  <a:srgbClr val="059669"/>
                </a:solidFill>
              </a:defRPr>
            </a:pPr>
            <a:r>
              <a:t>STEP 2: TEMPORAL ALIGNMENT</a:t>
            </a:r>
          </a:p>
          <a:p>
            <a:pPr>
              <a:spcBef>
                <a:spcPts val="300"/>
              </a:spcBef>
              <a:defRPr b="1" sz="1400">
                <a:solidFill>
                  <a:srgbClr val="0F172A"/>
                </a:solidFill>
              </a:defRPr>
            </a:pPr>
            <a:r>
              <a:t>Linear Resampling vs Padding</a:t>
            </a:r>
          </a:p>
          <a:p>
            <a:pPr>
              <a:spcBef>
                <a:spcPts val="600"/>
              </a:spcBef>
              <a:defRPr sz="1050">
                <a:solidFill>
                  <a:srgbClr val="0F172A"/>
                </a:solidFill>
              </a:defRPr>
            </a:pPr>
            <a:r>
              <a:t>• Isolated words vary in duration (15 to 45 frames). Models require exactly 75 frames (3.0s @ 25 FPS).</a:t>
            </a:r>
          </a:p>
          <a:p>
            <a:pPr>
              <a:spcBef>
                <a:spcPts val="600"/>
              </a:spcBef>
              <a:defRPr sz="1050">
                <a:solidFill>
                  <a:srgbClr val="0F172A"/>
                </a:solidFill>
              </a:defRPr>
            </a:pPr>
            <a:r>
              <a:t>• Empirical Benchmark: We tested native rate zero-padding against uniform linear index resampling (resample_75).</a:t>
            </a:r>
          </a:p>
          <a:p>
            <a:pPr>
              <a:spcBef>
                <a:spcPts val="600"/>
              </a:spcBef>
              <a:defRPr sz="1050">
                <a:solidFill>
                  <a:srgbClr val="0F172A"/>
                </a:solidFill>
              </a:defRPr>
            </a:pPr>
            <a:r>
              <a:t>• Result: resample_75 achieved 32.6% Top-1 vs. 16.8% for zero-padding.</a:t>
            </a:r>
          </a:p>
          <a:p>
            <a:pPr>
              <a:spcBef>
                <a:spcPts val="600"/>
              </a:spcBef>
              <a:defRPr sz="1050">
                <a:solidFill>
                  <a:srgbClr val="0F172A"/>
                </a:solidFill>
              </a:defRPr>
            </a:pPr>
            <a:r>
              <a:t>• Mathematical Reason: Zero-padding injects static frames, corrupting temporal BatchNorm running mean and variance.</a:t>
            </a:r>
          </a:p>
          <a:p>
            <a:pPr>
              <a:spcBef>
                <a:spcPts val="600"/>
              </a:spcBef>
              <a:defRPr sz="1050">
                <a:solidFill>
                  <a:srgbClr val="0F172A"/>
                </a:solidFill>
              </a:defRPr>
            </a:pPr>
            <a:r>
              <a:t>• Luminance Match: Match live webcam illumination to GRID lab stats (mu=148, sigma=27).</a:t>
            </a:r>
          </a:p>
        </p:txBody>
      </p:sp>
      <p:sp>
        <p:nvSpPr>
          <p:cNvPr id="8" name="Rounded Rectangle 7"/>
          <p:cNvSpPr/>
          <p:nvPr/>
        </p:nvSpPr>
        <p:spPr>
          <a:xfrm>
            <a:off x="8119872" y="1280160"/>
            <a:ext cx="3328416" cy="51206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01168" tIns="201168"/>
          <a:lstStyle/>
          <a:p>
            <a:pPr algn="ctr">
              <a:defRPr b="1" sz="1100">
                <a:solidFill>
                  <a:srgbClr val="D97706"/>
                </a:solidFill>
              </a:defRPr>
            </a:pPr>
            <a:r>
              <a:t>STEP 3: ZERO DATA LEAKAGE</a:t>
            </a:r>
          </a:p>
          <a:p>
            <a:pPr>
              <a:spcBef>
                <a:spcPts val="300"/>
              </a:spcBef>
              <a:defRPr b="1" sz="1400">
                <a:solidFill>
                  <a:srgbClr val="0F172A"/>
                </a:solidFill>
              </a:defRPr>
            </a:pPr>
            <a:r>
              <a:t>Strict Cross-Validation Rules</a:t>
            </a:r>
          </a:p>
          <a:p>
            <a:pPr>
              <a:spcBef>
                <a:spcPts val="600"/>
              </a:spcBef>
              <a:defRPr sz="1050">
                <a:solidFill>
                  <a:srgbClr val="0F172A"/>
                </a:solidFill>
              </a:defRPr>
            </a:pPr>
            <a:r>
              <a:t>• Disjoint Sentence Support: On typical speaker s8 control tests, training support sentences and test sentences are strictly disjoint (N=95 unseen).</a:t>
            </a:r>
          </a:p>
          <a:p>
            <a:pPr>
              <a:spcBef>
                <a:spcPts val="600"/>
              </a:spcBef>
              <a:defRPr sz="1050">
                <a:solidFill>
                  <a:srgbClr val="0F172A"/>
                </a:solidFill>
              </a:defRPr>
            </a:pPr>
            <a:r>
              <a:t>• Block-Level Isolation: In UASpeech personalization, support clips and query clips are drawn from completely separate recording blocks (e.g. B1/B2 vs B3).</a:t>
            </a:r>
          </a:p>
          <a:p>
            <a:pPr>
              <a:spcBef>
                <a:spcPts val="600"/>
              </a:spcBef>
              <a:defRPr sz="1050">
                <a:solidFill>
                  <a:srgbClr val="0F172A"/>
                </a:solidFill>
              </a:defRPr>
            </a:pPr>
            <a:r>
              <a:t>• No Target Normalization Peeking: Luminance statistics and bounding boxes are computed per-clip or strictly on support blocks.</a:t>
            </a:r>
          </a:p>
          <a:p>
            <a:pPr>
              <a:spcBef>
                <a:spcPts val="600"/>
              </a:spcBef>
              <a:defRPr sz="1050">
                <a:solidFill>
                  <a:srgbClr val="0F172A"/>
                </a:solidFill>
              </a:defRPr>
            </a:pPr>
            <a:r>
              <a:t>• Synthetic Dysarthria Augmentation: Slow-down stretch (1.0–2.0x), mouth amplitude damping, jitter; zero horizontal flipping.</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315200" cy="320040"/>
          </a:xfrm>
          <a:prstGeom prst="rect">
            <a:avLst/>
          </a:prstGeom>
          <a:noFill/>
        </p:spPr>
        <p:txBody>
          <a:bodyPr wrap="square">
            <a:spAutoFit/>
          </a:bodyPr>
          <a:lstStyle/>
          <a:p>
            <a:pPr>
              <a:defRPr sz="1000" b="1">
                <a:solidFill>
                  <a:srgbClr val="2563EB"/>
                </a:solidFill>
                <a:latin typeface="Arial"/>
              </a:defRPr>
            </a:pPr>
            <a:r>
              <a:t>7. WORKFLOW ARCHITECTURE</a:t>
            </a:r>
          </a:p>
        </p:txBody>
      </p:sp>
      <p:sp>
        <p:nvSpPr>
          <p:cNvPr id="4" name="TextBox 3"/>
          <p:cNvSpPr txBox="1"/>
          <p:nvPr/>
        </p:nvSpPr>
        <p:spPr>
          <a:xfrm>
            <a:off x="731520" y="594360"/>
            <a:ext cx="7772400" cy="548640"/>
          </a:xfrm>
          <a:prstGeom prst="rect">
            <a:avLst/>
          </a:prstGeom>
          <a:noFill/>
        </p:spPr>
        <p:txBody>
          <a:bodyPr wrap="square">
            <a:spAutoFit/>
          </a:bodyPr>
          <a:lstStyle/>
          <a:p>
            <a:pPr>
              <a:defRPr sz="2200" b="1">
                <a:solidFill>
                  <a:srgbClr val="0F172A"/>
                </a:solidFill>
                <a:latin typeface="Trebuchet MS"/>
              </a:defRPr>
            </a:pPr>
            <a:r>
              <a:t>Proposed End-to-End System Architecture</a:t>
            </a:r>
          </a:p>
        </p:txBody>
      </p:sp>
      <p:sp>
        <p:nvSpPr>
          <p:cNvPr id="5" name="Rounded Rectangle 4"/>
          <p:cNvSpPr/>
          <p:nvPr/>
        </p:nvSpPr>
        <p:spPr>
          <a:xfrm>
            <a:off x="8778240" y="411480"/>
            <a:ext cx="2651760" cy="384048"/>
          </a:xfrm>
          <a:prstGeom prst="round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50" b="1">
                <a:solidFill>
                  <a:srgbClr val="FFFFFF"/>
                </a:solidFill>
                <a:latin typeface="Arial"/>
              </a:defRPr>
            </a:pPr>
            <a:r>
              <a:t>STUDENT 2: MODULE 2 (3.5 MINS)</a:t>
            </a:r>
          </a:p>
        </p:txBody>
      </p:sp>
      <p:sp>
        <p:nvSpPr>
          <p:cNvPr id="6" name="Rounded Rectangle 5"/>
          <p:cNvSpPr/>
          <p:nvPr/>
        </p:nvSpPr>
        <p:spPr>
          <a:xfrm>
            <a:off x="731520" y="1280160"/>
            <a:ext cx="10716768" cy="1536192"/>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74320" tIns="182880"/>
          <a:lstStyle/>
          <a:p>
            <a:pPr algn="ctr">
              <a:defRPr sz="1300" b="1">
                <a:solidFill>
                  <a:srgbClr val="2563EB"/>
                </a:solidFill>
                <a:latin typeface="Trebuchet MS"/>
              </a:defRPr>
            </a:pPr>
            <a:r>
              <a:t>PHASE 1: SOURCE PRETRAINING (OFFLINE)</a:t>
            </a:r>
          </a:p>
          <a:p>
            <a:pPr>
              <a:spcBef>
                <a:spcPts val="800"/>
              </a:spcBef>
              <a:defRPr sz="1050">
                <a:solidFill>
                  <a:srgbClr val="0F172A"/>
                </a:solidFill>
                <a:latin typeface="Consolas"/>
              </a:defRPr>
            </a:pPr>
            <a:r>
              <a:t>Multi-Speaker GRID Corpus (s1-s8, 7,073 Sentences) ──▶ Stable Median Mouth ROI (50x100) ──▶ LipNet (3D-CNN + BiGRU) ──▶ CTC Loss (80 Epochs, lr=3e-4) ──▶ source_model.pt (12.5M Params)</a:t>
            </a:r>
          </a:p>
        </p:txBody>
      </p:sp>
      <p:sp>
        <p:nvSpPr>
          <p:cNvPr id="7" name="Rounded Rectangle 6"/>
          <p:cNvSpPr/>
          <p:nvPr/>
        </p:nvSpPr>
        <p:spPr>
          <a:xfrm>
            <a:off x="731520" y="2971800"/>
            <a:ext cx="10716768" cy="1536192"/>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74320" tIns="182880"/>
          <a:lstStyle/>
          <a:p>
            <a:pPr algn="ctr">
              <a:defRPr sz="1300" b="1">
                <a:solidFill>
                  <a:srgbClr val="059669"/>
                </a:solidFill>
                <a:latin typeface="Trebuchet MS"/>
              </a:defRPr>
            </a:pPr>
            <a:r>
              <a:t>PHASE 2: FEW-SHOT TARGET PERSONALIZATION (DISJOINT ADAPTATION)</a:t>
            </a:r>
          </a:p>
          <a:p>
            <a:pPr>
              <a:spcBef>
                <a:spcPts val="800"/>
              </a:spcBef>
              <a:defRPr sz="1050">
                <a:solidFill>
                  <a:srgbClr val="0F172A"/>
                </a:solidFill>
                <a:latin typeface="Consolas"/>
              </a:defRPr>
            </a:pPr>
            <a:r>
              <a:t>Dysarthric Speaker (F05/F02) Support Set (k=1–5 Clips) ──▶ Freeze 12.5M Backbone ──▶ Insert Bottleneck Residual Adapter (512-&gt;64-&gt;512) ──▶ AdamW (15–40 Epochs, lr=1e-4) ──▶ Personalized LipNet</a:t>
            </a:r>
          </a:p>
        </p:txBody>
      </p:sp>
      <p:sp>
        <p:nvSpPr>
          <p:cNvPr id="8" name="Rounded Rectangle 7"/>
          <p:cNvSpPr/>
          <p:nvPr/>
        </p:nvSpPr>
        <p:spPr>
          <a:xfrm>
            <a:off x="731520" y="4663440"/>
            <a:ext cx="10716768" cy="1536192"/>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74320" tIns="182880"/>
          <a:lstStyle/>
          <a:p>
            <a:pPr algn="ctr">
              <a:defRPr sz="1300" b="1">
                <a:solidFill>
                  <a:srgbClr val="1E293B"/>
                </a:solidFill>
                <a:latin typeface="Trebuchet MS"/>
              </a:defRPr>
            </a:pPr>
            <a:r>
              <a:t>PHASE 3: REAL-TIME INFERENCE &amp; LIVE WEBCAM DEPLOYMENT</a:t>
            </a:r>
          </a:p>
          <a:p>
            <a:pPr>
              <a:spcBef>
                <a:spcPts val="800"/>
              </a:spcBef>
              <a:defRPr sz="1050">
                <a:solidFill>
                  <a:srgbClr val="0F172A"/>
                </a:solidFill>
                <a:latin typeface="Consolas"/>
              </a:defRPr>
            </a:pPr>
            <a:r>
              <a:t>Live Webcam Video / Target Clip ──▶ 25.0 FPS Timestamp Resample ──▶ Statistical Luminance Match (mu=148, sigma=27) ──▶ Spatio-Temporal Forward Pass ──▶ Dual Output: Grammar Snap &amp; AAC Ridge Match</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315200" cy="320040"/>
          </a:xfrm>
          <a:prstGeom prst="rect">
            <a:avLst/>
          </a:prstGeom>
          <a:noFill/>
        </p:spPr>
        <p:txBody>
          <a:bodyPr wrap="square">
            <a:spAutoFit/>
          </a:bodyPr>
          <a:lstStyle/>
          <a:p>
            <a:pPr>
              <a:defRPr sz="1000" b="1">
                <a:solidFill>
                  <a:srgbClr val="2563EB"/>
                </a:solidFill>
                <a:latin typeface="Arial"/>
              </a:defRPr>
            </a:pPr>
            <a:r>
              <a:t>8. DEEP LEARNING METHODOLOGY</a:t>
            </a:r>
          </a:p>
        </p:txBody>
      </p:sp>
      <p:sp>
        <p:nvSpPr>
          <p:cNvPr id="4" name="TextBox 3"/>
          <p:cNvSpPr txBox="1"/>
          <p:nvPr/>
        </p:nvSpPr>
        <p:spPr>
          <a:xfrm>
            <a:off x="731520" y="594360"/>
            <a:ext cx="7772400" cy="548640"/>
          </a:xfrm>
          <a:prstGeom prst="rect">
            <a:avLst/>
          </a:prstGeom>
          <a:noFill/>
        </p:spPr>
        <p:txBody>
          <a:bodyPr wrap="square">
            <a:spAutoFit/>
          </a:bodyPr>
          <a:lstStyle/>
          <a:p>
            <a:pPr>
              <a:defRPr sz="2200" b="1">
                <a:solidFill>
                  <a:srgbClr val="0F172A"/>
                </a:solidFill>
                <a:latin typeface="Trebuchet MS"/>
              </a:defRPr>
            </a:pPr>
            <a:r>
              <a:t>LipNet Architecture &amp; Exact Training Hyperparameters</a:t>
            </a:r>
          </a:p>
        </p:txBody>
      </p:sp>
      <p:sp>
        <p:nvSpPr>
          <p:cNvPr id="5" name="Rounded Rectangle 4"/>
          <p:cNvSpPr/>
          <p:nvPr/>
        </p:nvSpPr>
        <p:spPr>
          <a:xfrm>
            <a:off x="8778240" y="411480"/>
            <a:ext cx="2651760" cy="384048"/>
          </a:xfrm>
          <a:prstGeom prst="round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50" b="1">
                <a:solidFill>
                  <a:srgbClr val="FFFFFF"/>
                </a:solidFill>
                <a:latin typeface="Arial"/>
              </a:defRPr>
            </a:pPr>
            <a:r>
              <a:t>STUDENT 2: MODULE 2</a:t>
            </a:r>
          </a:p>
        </p:txBody>
      </p:sp>
      <p:sp>
        <p:nvSpPr>
          <p:cNvPr id="6" name="Rounded Rectangle 5"/>
          <p:cNvSpPr/>
          <p:nvPr/>
        </p:nvSpPr>
        <p:spPr>
          <a:xfrm>
            <a:off x="731520" y="1280160"/>
            <a:ext cx="5486400" cy="51206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tIns="228600"/>
          <a:lstStyle/>
          <a:p>
            <a:pPr algn="ctr">
              <a:defRPr b="1" sz="1200">
                <a:solidFill>
                  <a:srgbClr val="2563EB"/>
                </a:solidFill>
              </a:defRPr>
            </a:pPr>
            <a:r>
              <a:t>SPATIO-TEMPORAL NEURAL ARCHITECTURE</a:t>
            </a:r>
          </a:p>
          <a:p>
            <a:pPr>
              <a:spcBef>
                <a:spcPts val="300"/>
              </a:spcBef>
              <a:defRPr b="1" sz="1500">
                <a:solidFill>
                  <a:srgbClr val="0F172A"/>
                </a:solidFill>
              </a:defRPr>
            </a:pPr>
            <a:r>
              <a:t>LipNet: 3D-CNN Frontend + BiGRU Backend</a:t>
            </a:r>
          </a:p>
          <a:p>
            <a:pPr>
              <a:spcBef>
                <a:spcPts val="500"/>
              </a:spcBef>
              <a:defRPr sz="1000">
                <a:solidFill>
                  <a:srgbClr val="0F172A"/>
                </a:solidFill>
              </a:defRPr>
            </a:pPr>
            <a:r>
              <a:t>• Input Tensor: (B, 1, 75, 50, 100) — Batch, Channels, Frames, Height, Width.</a:t>
            </a:r>
          </a:p>
          <a:p>
            <a:pPr>
              <a:spcBef>
                <a:spcPts val="500"/>
              </a:spcBef>
              <a:defRPr sz="1000">
                <a:solidFill>
                  <a:srgbClr val="0F172A"/>
                </a:solidFill>
              </a:defRPr>
            </a:pPr>
            <a:r>
              <a:t>• 3D-CNN Block 1: Conv3D(1-&gt;32, k=(3,5,5), p=(1,2,2)) + BN3D + ReLU + MaxPool3D(1,2,2) + Dropout3D(0.4). Output: (B, 32, 75, 25, 50).</a:t>
            </a:r>
          </a:p>
          <a:p>
            <a:pPr>
              <a:spcBef>
                <a:spcPts val="500"/>
              </a:spcBef>
              <a:defRPr sz="1000">
                <a:solidFill>
                  <a:srgbClr val="0F172A"/>
                </a:solidFill>
              </a:defRPr>
            </a:pPr>
            <a:r>
              <a:t>• 3D-CNN Block 2: Conv3D(32-&gt;64, k=(3,5,5), p=(1,2,2)) + BN3D + ReLU + MaxPool3D(1,2,2) + Dropout3D(0.4). Output: (B, 64, 75, 12, 25).</a:t>
            </a:r>
          </a:p>
          <a:p>
            <a:pPr>
              <a:spcBef>
                <a:spcPts val="500"/>
              </a:spcBef>
              <a:defRPr sz="1000">
                <a:solidFill>
                  <a:srgbClr val="0F172A"/>
                </a:solidFill>
              </a:defRPr>
            </a:pPr>
            <a:r>
              <a:t>• 3D-CNN Block 3: Conv3D(64-&gt;96, k=(3,3,3), p=(1,1,1)) + BN3D + ReLU + MaxPool3D(1,2,2) + Dropout3D(0.4). Output: (B, 96, 75, 6, 12).</a:t>
            </a:r>
          </a:p>
          <a:p>
            <a:pPr>
              <a:spcBef>
                <a:spcPts val="500"/>
              </a:spcBef>
              <a:defRPr sz="1000">
                <a:solidFill>
                  <a:srgbClr val="0F172A"/>
                </a:solidFill>
              </a:defRPr>
            </a:pPr>
            <a:r>
              <a:t>• Spatial Flattening: Reshaped to (B, 75, 96*6*12 = 6,912 features/frame).</a:t>
            </a:r>
          </a:p>
          <a:p>
            <a:pPr>
              <a:spcBef>
                <a:spcPts val="500"/>
              </a:spcBef>
              <a:defRPr sz="1000">
                <a:solidFill>
                  <a:srgbClr val="0F172A"/>
                </a:solidFill>
              </a:defRPr>
            </a:pPr>
            <a:r>
              <a:t>• Temporal BiGRU: 2-layer Bidirectional GRU (hidden size 256/dir -&gt; 512 bidirectional dim) + Dropout(0.4).</a:t>
            </a:r>
          </a:p>
          <a:p>
            <a:pPr>
              <a:spcBef>
                <a:spcPts val="500"/>
              </a:spcBef>
              <a:defRPr sz="1000">
                <a:solidFill>
                  <a:srgbClr val="0F172A"/>
                </a:solidFill>
              </a:defRPr>
            </a:pPr>
            <a:r>
              <a:t>• CTC Classification Head: Linear(512 -&gt; 52) [51 vocab tokens + 1 blank token].</a:t>
            </a:r>
          </a:p>
        </p:txBody>
      </p:sp>
      <p:sp>
        <p:nvSpPr>
          <p:cNvPr id="7" name="Rounded Rectangle 6"/>
          <p:cNvSpPr/>
          <p:nvPr/>
        </p:nvSpPr>
        <p:spPr>
          <a:xfrm>
            <a:off x="6400800" y="1280160"/>
            <a:ext cx="5047488" cy="51206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tIns="228600"/>
          <a:lstStyle/>
          <a:p>
            <a:pPr algn="ctr">
              <a:defRPr b="1" sz="1200">
                <a:solidFill>
                  <a:srgbClr val="059669"/>
                </a:solidFill>
              </a:defRPr>
            </a:pPr>
            <a:r>
              <a:t>VERIFIED HYPERPARAMETERS &amp; SPECS</a:t>
            </a:r>
          </a:p>
          <a:p>
            <a:pPr>
              <a:spcBef>
                <a:spcPts val="300"/>
              </a:spcBef>
              <a:defRPr b="1" sz="1500">
                <a:solidFill>
                  <a:srgbClr val="0F172A"/>
                </a:solidFill>
              </a:defRPr>
            </a:pPr>
            <a:r>
              <a:t>Read from Source Code &amp; train_hist.npy</a:t>
            </a:r>
          </a:p>
        </p:txBody>
      </p:sp>
      <p:graphicFrame>
        <p:nvGraphicFramePr>
          <p:cNvPr id="8" name="Table 7"/>
          <p:cNvGraphicFramePr>
            <a:graphicFrameLocks noGrp="1"/>
          </p:cNvGraphicFramePr>
          <p:nvPr/>
        </p:nvGraphicFramePr>
        <p:xfrm>
          <a:off x="6583680" y="2011680"/>
          <a:ext cx="4681728" cy="4206240"/>
        </p:xfrm>
        <a:graphic>
          <a:graphicData uri="http://schemas.openxmlformats.org/drawingml/2006/table">
            <a:tbl>
              <a:tblPr firstRow="1" bandRow="1">
                <a:tableStyleId>{5C22544A-7EE6-4342-B048-85BDC9FD1C3A}</a:tableStyleId>
              </a:tblPr>
              <a:tblGrid>
                <a:gridCol w="2011680"/>
                <a:gridCol w="2670048"/>
              </a:tblGrid>
              <a:tr h="525780">
                <a:tc>
                  <a:txBody>
                    <a:bodyPr/>
                    <a:lstStyle/>
                    <a:p>
                      <a:pPr>
                        <a:defRPr b="1" sz="950">
                          <a:solidFill>
                            <a:srgbClr val="FFFFFF"/>
                          </a:solidFill>
                        </a:defRPr>
                      </a:pPr>
                      <a:r>
                        <a:t>Total Parameters</a:t>
                      </a:r>
                    </a:p>
                  </a:txBody>
                  <a:tcPr>
                    <a:solidFill>
                      <a:srgbClr val="1E293B"/>
                    </a:solidFill>
                  </a:tcPr>
                </a:tc>
                <a:tc>
                  <a:txBody>
                    <a:bodyPr/>
                    <a:lstStyle/>
                    <a:p>
                      <a:pPr>
                        <a:defRPr b="1" sz="950">
                          <a:solidFill>
                            <a:srgbClr val="0F172A"/>
                          </a:solidFill>
                        </a:defRPr>
                      </a:pPr>
                      <a:r>
                        <a:t>12,544,980 parameters</a:t>
                      </a:r>
                    </a:p>
                  </a:txBody>
                  <a:tcPr>
                    <a:solidFill>
                      <a:srgbClr val="F1F5F9"/>
                    </a:solidFill>
                  </a:tcPr>
                </a:tc>
              </a:tr>
              <a:tr h="525780">
                <a:tc>
                  <a:txBody>
                    <a:bodyPr/>
                    <a:lstStyle/>
                    <a:p>
                      <a:pPr>
                        <a:defRPr b="1" sz="950">
                          <a:solidFill>
                            <a:srgbClr val="FFFFFF"/>
                          </a:solidFill>
                        </a:defRPr>
                      </a:pPr>
                      <a:r>
                        <a:t>Trainable (Source)</a:t>
                      </a:r>
                    </a:p>
                  </a:txBody>
                  <a:tcPr>
                    <a:solidFill>
                      <a:srgbClr val="1E293B"/>
                    </a:solidFill>
                  </a:tcPr>
                </a:tc>
                <a:tc>
                  <a:txBody>
                    <a:bodyPr/>
                    <a:lstStyle/>
                    <a:p>
                      <a:pPr>
                        <a:defRPr b="0" sz="950">
                          <a:solidFill>
                            <a:srgbClr val="0F172A"/>
                          </a:solidFill>
                        </a:defRPr>
                      </a:pPr>
                      <a:r>
                        <a:t>12,544,980 (100% trained)</a:t>
                      </a:r>
                    </a:p>
                  </a:txBody>
                  <a:tcPr>
                    <a:solidFill>
                      <a:srgbClr val="F1F5F9"/>
                    </a:solidFill>
                  </a:tcPr>
                </a:tc>
              </a:tr>
              <a:tr h="525780">
                <a:tc>
                  <a:txBody>
                    <a:bodyPr/>
                    <a:lstStyle/>
                    <a:p>
                      <a:pPr>
                        <a:defRPr b="1" sz="950">
                          <a:solidFill>
                            <a:srgbClr val="FFFFFF"/>
                          </a:solidFill>
                        </a:defRPr>
                      </a:pPr>
                      <a:r>
                        <a:t>Trainable (Adapter)</a:t>
                      </a:r>
                    </a:p>
                  </a:txBody>
                  <a:tcPr>
                    <a:solidFill>
                      <a:srgbClr val="1E293B"/>
                    </a:solidFill>
                  </a:tcPr>
                </a:tc>
                <a:tc>
                  <a:txBody>
                    <a:bodyPr/>
                    <a:lstStyle/>
                    <a:p>
                      <a:pPr>
                        <a:defRPr b="1" sz="950">
                          <a:solidFill>
                            <a:srgbClr val="0F172A"/>
                          </a:solidFill>
                        </a:defRPr>
                      </a:pPr>
                      <a:r>
                        <a:t>98,868 parameters (~0.8%)</a:t>
                      </a:r>
                    </a:p>
                  </a:txBody>
                  <a:tcPr>
                    <a:solidFill>
                      <a:srgbClr val="F1F5F9"/>
                    </a:solidFill>
                  </a:tcPr>
                </a:tc>
              </a:tr>
              <a:tr h="525780">
                <a:tc>
                  <a:txBody>
                    <a:bodyPr/>
                    <a:lstStyle/>
                    <a:p>
                      <a:pPr>
                        <a:defRPr b="1" sz="950">
                          <a:solidFill>
                            <a:srgbClr val="FFFFFF"/>
                          </a:solidFill>
                        </a:defRPr>
                      </a:pPr>
                      <a:r>
                        <a:t>Batch Size</a:t>
                      </a:r>
                    </a:p>
                  </a:txBody>
                  <a:tcPr>
                    <a:solidFill>
                      <a:srgbClr val="1E293B"/>
                    </a:solidFill>
                  </a:tcPr>
                </a:tc>
                <a:tc>
                  <a:txBody>
                    <a:bodyPr/>
                    <a:lstStyle/>
                    <a:p>
                      <a:pPr>
                        <a:defRPr b="0" sz="950">
                          <a:solidFill>
                            <a:srgbClr val="0F172A"/>
                          </a:solidFill>
                        </a:defRPr>
                      </a:pPr>
                      <a:r>
                        <a:t>16 (NVIDIA RTX 4050 GPU)</a:t>
                      </a:r>
                    </a:p>
                  </a:txBody>
                  <a:tcPr>
                    <a:solidFill>
                      <a:srgbClr val="F1F5F9"/>
                    </a:solidFill>
                  </a:tcPr>
                </a:tc>
              </a:tr>
              <a:tr h="525780">
                <a:tc>
                  <a:txBody>
                    <a:bodyPr/>
                    <a:lstStyle/>
                    <a:p>
                      <a:pPr>
                        <a:defRPr b="1" sz="950">
                          <a:solidFill>
                            <a:srgbClr val="FFFFFF"/>
                          </a:solidFill>
                        </a:defRPr>
                      </a:pPr>
                      <a:r>
                        <a:t>Epochs</a:t>
                      </a:r>
                    </a:p>
                  </a:txBody>
                  <a:tcPr>
                    <a:solidFill>
                      <a:srgbClr val="1E293B"/>
                    </a:solidFill>
                  </a:tcPr>
                </a:tc>
                <a:tc>
                  <a:txBody>
                    <a:bodyPr/>
                    <a:lstStyle/>
                    <a:p>
                      <a:pPr>
                        <a:defRPr b="0" sz="950">
                          <a:solidFill>
                            <a:srgbClr val="0F172A"/>
                          </a:solidFill>
                        </a:defRPr>
                      </a:pPr>
                      <a:r>
                        <a:t>80 epochs (CosineAnnealingLR)</a:t>
                      </a:r>
                    </a:p>
                  </a:txBody>
                  <a:tcPr>
                    <a:solidFill>
                      <a:srgbClr val="F1F5F9"/>
                    </a:solidFill>
                  </a:tcPr>
                </a:tc>
              </a:tr>
              <a:tr h="525780">
                <a:tc>
                  <a:txBody>
                    <a:bodyPr/>
                    <a:lstStyle/>
                    <a:p>
                      <a:pPr>
                        <a:defRPr b="1" sz="950">
                          <a:solidFill>
                            <a:srgbClr val="FFFFFF"/>
                          </a:solidFill>
                        </a:defRPr>
                      </a:pPr>
                      <a:r>
                        <a:t>Optimizer</a:t>
                      </a:r>
                    </a:p>
                  </a:txBody>
                  <a:tcPr>
                    <a:solidFill>
                      <a:srgbClr val="1E293B"/>
                    </a:solidFill>
                  </a:tcPr>
                </a:tc>
                <a:tc>
                  <a:txBody>
                    <a:bodyPr/>
                    <a:lstStyle/>
                    <a:p>
                      <a:pPr>
                        <a:defRPr b="0" sz="950">
                          <a:solidFill>
                            <a:srgbClr val="0F172A"/>
                          </a:solidFill>
                        </a:defRPr>
                      </a:pPr>
                      <a:r>
                        <a:t>AdamW (lr=3e-4, weight_decay=1e-4)</a:t>
                      </a:r>
                    </a:p>
                  </a:txBody>
                  <a:tcPr>
                    <a:solidFill>
                      <a:srgbClr val="F1F5F9"/>
                    </a:solidFill>
                  </a:tcPr>
                </a:tc>
              </a:tr>
              <a:tr h="525780">
                <a:tc>
                  <a:txBody>
                    <a:bodyPr/>
                    <a:lstStyle/>
                    <a:p>
                      <a:pPr>
                        <a:defRPr b="1" sz="950">
                          <a:solidFill>
                            <a:srgbClr val="FFFFFF"/>
                          </a:solidFill>
                        </a:defRPr>
                      </a:pPr>
                      <a:r>
                        <a:t>Loss Function</a:t>
                      </a:r>
                    </a:p>
                  </a:txBody>
                  <a:tcPr>
                    <a:solidFill>
                      <a:srgbClr val="1E293B"/>
                    </a:solidFill>
                  </a:tcPr>
                </a:tc>
                <a:tc>
                  <a:txBody>
                    <a:bodyPr/>
                    <a:lstStyle/>
                    <a:p>
                      <a:pPr>
                        <a:defRPr b="0" sz="950">
                          <a:solidFill>
                            <a:srgbClr val="0F172A"/>
                          </a:solidFill>
                        </a:defRPr>
                      </a:pPr>
                      <a:r>
                        <a:t>nn.CTCLoss (blank=51, zero_infinity=True)</a:t>
                      </a:r>
                    </a:p>
                  </a:txBody>
                  <a:tcPr>
                    <a:solidFill>
                      <a:srgbClr val="F1F5F9"/>
                    </a:solidFill>
                  </a:tcPr>
                </a:tc>
              </a:tr>
              <a:tr h="525780">
                <a:tc>
                  <a:txBody>
                    <a:bodyPr/>
                    <a:lstStyle/>
                    <a:p>
                      <a:pPr>
                        <a:defRPr b="1" sz="950">
                          <a:solidFill>
                            <a:srgbClr val="FFFFFF"/>
                          </a:solidFill>
                        </a:defRPr>
                      </a:pPr>
                      <a:r>
                        <a:t>Gradient Clipping</a:t>
                      </a:r>
                    </a:p>
                  </a:txBody>
                  <a:tcPr>
                    <a:solidFill>
                      <a:srgbClr val="1E293B"/>
                    </a:solidFill>
                  </a:tcPr>
                </a:tc>
                <a:tc>
                  <a:txBody>
                    <a:bodyPr/>
                    <a:lstStyle/>
                    <a:p>
                      <a:pPr>
                        <a:defRPr b="0" sz="950">
                          <a:solidFill>
                            <a:srgbClr val="0F172A"/>
                          </a:solidFill>
                        </a:defRPr>
                      </a:pPr>
                      <a:r>
                        <a:t>clip_grad_norm_(params, 5.0)</a:t>
                      </a:r>
                    </a:p>
                  </a:txBody>
                  <a:tcPr>
                    <a:solidFill>
                      <a:srgbClr val="F1F5F9"/>
                    </a:solidFill>
                  </a:tcPr>
                </a:tc>
              </a:tr>
            </a:tbl>
          </a:graphicData>
        </a:graphic>
      </p:graphicFrame>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315200" cy="320040"/>
          </a:xfrm>
          <a:prstGeom prst="rect">
            <a:avLst/>
          </a:prstGeom>
          <a:noFill/>
        </p:spPr>
        <p:txBody>
          <a:bodyPr wrap="square">
            <a:spAutoFit/>
          </a:bodyPr>
          <a:lstStyle/>
          <a:p>
            <a:pPr>
              <a:defRPr sz="1000" b="1">
                <a:solidFill>
                  <a:srgbClr val="2563EB"/>
                </a:solidFill>
                <a:latin typeface="Arial"/>
              </a:defRPr>
            </a:pPr>
            <a:r>
              <a:t>9. EXPERIMENTAL EVALUATION</a:t>
            </a:r>
          </a:p>
        </p:txBody>
      </p:sp>
      <p:sp>
        <p:nvSpPr>
          <p:cNvPr id="4" name="TextBox 3"/>
          <p:cNvSpPr txBox="1"/>
          <p:nvPr/>
        </p:nvSpPr>
        <p:spPr>
          <a:xfrm>
            <a:off x="731520" y="594360"/>
            <a:ext cx="7772400" cy="548640"/>
          </a:xfrm>
          <a:prstGeom prst="rect">
            <a:avLst/>
          </a:prstGeom>
          <a:noFill/>
        </p:spPr>
        <p:txBody>
          <a:bodyPr wrap="square">
            <a:spAutoFit/>
          </a:bodyPr>
          <a:lstStyle/>
          <a:p>
            <a:pPr>
              <a:defRPr sz="2200" b="1">
                <a:solidFill>
                  <a:srgbClr val="0F172A"/>
                </a:solidFill>
                <a:latin typeface="Trebuchet MS"/>
              </a:defRPr>
            </a:pPr>
            <a:r>
              <a:t>Source Pretraining &amp; Typical Speaker Upper Bound (s8)</a:t>
            </a:r>
          </a:p>
        </p:txBody>
      </p:sp>
      <p:sp>
        <p:nvSpPr>
          <p:cNvPr id="5" name="Rounded Rectangle 4"/>
          <p:cNvSpPr/>
          <p:nvPr/>
        </p:nvSpPr>
        <p:spPr>
          <a:xfrm>
            <a:off x="8778240" y="411480"/>
            <a:ext cx="2651760" cy="384048"/>
          </a:xfrm>
          <a:prstGeom prst="round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50" b="1">
                <a:solidFill>
                  <a:srgbClr val="FFFFFF"/>
                </a:solidFill>
                <a:latin typeface="Arial"/>
              </a:defRPr>
            </a:pPr>
            <a:r>
              <a:t>STUDENT 3: MODULE 3 (4.0 MINS)</a:t>
            </a:r>
          </a:p>
        </p:txBody>
      </p:sp>
      <p:pic>
        <p:nvPicPr>
          <p:cNvPr id="6" name="Picture 5" descr="source_training_loss.png"/>
          <p:cNvPicPr>
            <a:picLocks noChangeAspect="1"/>
          </p:cNvPicPr>
          <p:nvPr/>
        </p:nvPicPr>
        <p:blipFill>
          <a:blip r:embed="rId2"/>
          <a:stretch>
            <a:fillRect/>
          </a:stretch>
        </p:blipFill>
        <p:spPr>
          <a:xfrm>
            <a:off x="731520" y="1280160"/>
            <a:ext cx="5212080" cy="3257550"/>
          </a:xfrm>
          <a:prstGeom prst="rect">
            <a:avLst/>
          </a:prstGeom>
        </p:spPr>
      </p:pic>
      <p:pic>
        <p:nvPicPr>
          <p:cNvPr id="7" name="Picture 6" descr="confusion_matrix_s8_control.png"/>
          <p:cNvPicPr>
            <a:picLocks noChangeAspect="1"/>
          </p:cNvPicPr>
          <p:nvPr/>
        </p:nvPicPr>
        <p:blipFill>
          <a:blip r:embed="rId3"/>
          <a:stretch>
            <a:fillRect/>
          </a:stretch>
        </p:blipFill>
        <p:spPr>
          <a:xfrm>
            <a:off x="6217920" y="1280160"/>
            <a:ext cx="5212080" cy="4343400"/>
          </a:xfrm>
          <a:prstGeom prst="rect">
            <a:avLst/>
          </a:prstGeom>
        </p:spPr>
      </p:pic>
      <p:sp>
        <p:nvSpPr>
          <p:cNvPr id="8" name="Rounded Rectangle 7"/>
          <p:cNvSpPr/>
          <p:nvPr/>
        </p:nvSpPr>
        <p:spPr>
          <a:xfrm>
            <a:off x="731520" y="5303520"/>
            <a:ext cx="10716768" cy="1097280"/>
          </a:xfrm>
          <a:prstGeom prst="roundRect">
            <a:avLst/>
          </a:prstGeom>
          <a:solidFill>
            <a:srgbClr val="1E293B"/>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tIns="137160"/>
          <a:lstStyle/>
          <a:p>
            <a:pPr algn="ctr">
              <a:defRPr sz="1100" b="1">
                <a:solidFill>
                  <a:srgbClr val="0EA5E9"/>
                </a:solidFill>
                <a:latin typeface="Trebuchet MS"/>
              </a:defRPr>
            </a:pPr>
            <a:r>
              <a:t>TYPICAL SPEAKER s8 CONTROL STATS (N = 878 CLIPS)  |  CHANCE LEVEL = 10.0%</a:t>
            </a:r>
          </a:p>
          <a:p>
            <a:pPr>
              <a:spcBef>
                <a:spcPts val="300"/>
              </a:spcBef>
              <a:defRPr sz="1150" b="1">
                <a:solidFill>
                  <a:srgbClr val="FFFFFF"/>
                </a:solidFill>
                <a:latin typeface="Arial"/>
              </a:defRPr>
            </a:pPr>
            <a:r>
              <a:t>Top-1 Accuracy: 36.8% [95% CI: 33.7%, 40.1%]  |  Top-3 Accuracy: 75.2% [95% CI: 72.2%, 78.0%]  |  Macro Precision: 32.5%  |  Macro Recall: 36.9%  |  Macro F1: 28.3%</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315200" cy="320040"/>
          </a:xfrm>
          <a:prstGeom prst="rect">
            <a:avLst/>
          </a:prstGeom>
          <a:noFill/>
        </p:spPr>
        <p:txBody>
          <a:bodyPr wrap="square">
            <a:spAutoFit/>
          </a:bodyPr>
          <a:lstStyle/>
          <a:p>
            <a:pPr>
              <a:defRPr sz="1000" b="1">
                <a:solidFill>
                  <a:srgbClr val="2563EB"/>
                </a:solidFill>
                <a:latin typeface="Arial"/>
              </a:defRPr>
            </a:pPr>
            <a:r>
              <a:t>10. DYSARTHRIA PERSONALIZATION</a:t>
            </a:r>
          </a:p>
        </p:txBody>
      </p:sp>
      <p:sp>
        <p:nvSpPr>
          <p:cNvPr id="4" name="TextBox 3"/>
          <p:cNvSpPr txBox="1"/>
          <p:nvPr/>
        </p:nvSpPr>
        <p:spPr>
          <a:xfrm>
            <a:off x="731520" y="594360"/>
            <a:ext cx="7772400" cy="548640"/>
          </a:xfrm>
          <a:prstGeom prst="rect">
            <a:avLst/>
          </a:prstGeom>
          <a:noFill/>
        </p:spPr>
        <p:txBody>
          <a:bodyPr wrap="square">
            <a:spAutoFit/>
          </a:bodyPr>
          <a:lstStyle/>
          <a:p>
            <a:pPr>
              <a:defRPr sz="2200" b="1">
                <a:solidFill>
                  <a:srgbClr val="0F172A"/>
                </a:solidFill>
                <a:latin typeface="Trebuchet MS"/>
              </a:defRPr>
            </a:pPr>
            <a:r>
              <a:t>Few-Shot Personalization Benchmark (UASpeech F05 &amp; F02)</a:t>
            </a:r>
          </a:p>
        </p:txBody>
      </p:sp>
      <p:sp>
        <p:nvSpPr>
          <p:cNvPr id="5" name="Rounded Rectangle 4"/>
          <p:cNvSpPr/>
          <p:nvPr/>
        </p:nvSpPr>
        <p:spPr>
          <a:xfrm>
            <a:off x="8778240" y="411480"/>
            <a:ext cx="2651760" cy="384048"/>
          </a:xfrm>
          <a:prstGeom prst="round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50" b="1">
                <a:solidFill>
                  <a:srgbClr val="FFFFFF"/>
                </a:solidFill>
                <a:latin typeface="Arial"/>
              </a:defRPr>
            </a:pPr>
            <a:r>
              <a:t>STUDENT 3: MODULE 3</a:t>
            </a:r>
          </a:p>
        </p:txBody>
      </p:sp>
      <p:pic>
        <p:nvPicPr>
          <p:cNvPr id="6" name="Picture 5" descr="data_efficiency_curve.png"/>
          <p:cNvPicPr>
            <a:picLocks noChangeAspect="1"/>
          </p:cNvPicPr>
          <p:nvPr/>
        </p:nvPicPr>
        <p:blipFill>
          <a:blip r:embed="rId2"/>
          <a:stretch>
            <a:fillRect/>
          </a:stretch>
        </p:blipFill>
        <p:spPr>
          <a:xfrm>
            <a:off x="731520" y="1280160"/>
            <a:ext cx="6217920" cy="4274820"/>
          </a:xfrm>
          <a:prstGeom prst="rect">
            <a:avLst/>
          </a:prstGeom>
        </p:spPr>
      </p:pic>
      <p:sp>
        <p:nvSpPr>
          <p:cNvPr id="7" name="Rounded Rectangle 6"/>
          <p:cNvSpPr/>
          <p:nvPr/>
        </p:nvSpPr>
        <p:spPr>
          <a:xfrm>
            <a:off x="7132320" y="1280160"/>
            <a:ext cx="4315968" cy="51206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tIns="182880"/>
          <a:lstStyle/>
          <a:p>
            <a:pPr algn="ctr">
              <a:defRPr b="1" sz="1200">
                <a:solidFill>
                  <a:srgbClr val="2563EB"/>
                </a:solidFill>
              </a:defRPr>
            </a:pPr>
            <a:r>
              <a:t>KEY PERSONALIZATION FINDINGS</a:t>
            </a:r>
          </a:p>
          <a:p>
            <a:pPr>
              <a:spcBef>
                <a:spcPts val="200"/>
              </a:spcBef>
              <a:defRPr b="1" sz="1400">
                <a:solidFill>
                  <a:srgbClr val="0F172A"/>
                </a:solidFill>
              </a:defRPr>
            </a:pPr>
            <a:r>
              <a:t>Full Fine-Tune vs Bottleneck Adapter</a:t>
            </a:r>
          </a:p>
          <a:p>
            <a:pPr>
              <a:spcBef>
                <a:spcPts val="600"/>
              </a:spcBef>
              <a:defRPr sz="1050">
                <a:solidFill>
                  <a:srgbClr val="0F172A"/>
                </a:solidFill>
              </a:defRPr>
            </a:pPr>
            <a:r>
              <a:t>• Catastrophic Overfitting in Full FT: Retraining all 12.5M weights on k=1–5 shots causes Top-1 accuracy to degrade (falling from 20% to 8% on F05) due to gradient collapse.</a:t>
            </a:r>
          </a:p>
          <a:p>
            <a:pPr>
              <a:spcBef>
                <a:spcPts val="600"/>
              </a:spcBef>
              <a:defRPr sz="1050">
                <a:solidFill>
                  <a:srgbClr val="0F172A"/>
                </a:solidFill>
              </a:defRPr>
            </a:pPr>
            <a:r>
              <a:t>• Adapter Stability: Bottleneck adapter tuning freezes the backbone and preserves spatio-temporal features, keeping Top-1 stable at 18% on F05 and 12% on F02.</a:t>
            </a:r>
          </a:p>
          <a:p>
            <a:pPr>
              <a:spcBef>
                <a:spcPts val="600"/>
              </a:spcBef>
              <a:defRPr sz="1050">
                <a:solidFill>
                  <a:srgbClr val="0F172A"/>
                </a:solidFill>
              </a:defRPr>
            </a:pPr>
            <a:r>
              <a:t>• Top-3 Gain on Severe Dysarthria (F02): On speaker F02 (29% speech intelligibility), adapter tuning lifts Top-3 accuracy from 10% (zero-shot chance) up to 40.0% at k=10.</a:t>
            </a:r>
          </a:p>
          <a:p>
            <a:pPr>
              <a:spcBef>
                <a:spcPts val="600"/>
              </a:spcBef>
              <a:defRPr sz="1050">
                <a:solidFill>
                  <a:srgbClr val="0F172A"/>
                </a:solidFill>
              </a:defRPr>
            </a:pPr>
            <a:r>
              <a:t>• 590% WER Artifact Resolution: Raw sentence CTC decoders hallucinate insertion tokens on isolated word clips (600% WER). Constraining sequence decoding bounds WER in [0%, 100%].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315200" cy="320040"/>
          </a:xfrm>
          <a:prstGeom prst="rect">
            <a:avLst/>
          </a:prstGeom>
          <a:noFill/>
        </p:spPr>
        <p:txBody>
          <a:bodyPr wrap="square">
            <a:spAutoFit/>
          </a:bodyPr>
          <a:lstStyle/>
          <a:p>
            <a:pPr>
              <a:defRPr sz="1000" b="1">
                <a:solidFill>
                  <a:srgbClr val="2563EB"/>
                </a:solidFill>
                <a:latin typeface="Arial"/>
              </a:defRPr>
            </a:pPr>
            <a:r>
              <a:t>11. ABLATION &amp; VERIFICATION</a:t>
            </a:r>
          </a:p>
        </p:txBody>
      </p:sp>
      <p:sp>
        <p:nvSpPr>
          <p:cNvPr id="4" name="TextBox 3"/>
          <p:cNvSpPr txBox="1"/>
          <p:nvPr/>
        </p:nvSpPr>
        <p:spPr>
          <a:xfrm>
            <a:off x="731520" y="594360"/>
            <a:ext cx="7772400" cy="548640"/>
          </a:xfrm>
          <a:prstGeom prst="rect">
            <a:avLst/>
          </a:prstGeom>
          <a:noFill/>
        </p:spPr>
        <p:txBody>
          <a:bodyPr wrap="square">
            <a:spAutoFit/>
          </a:bodyPr>
          <a:lstStyle/>
          <a:p>
            <a:pPr>
              <a:defRPr sz="2200" b="1">
                <a:solidFill>
                  <a:srgbClr val="0F172A"/>
                </a:solidFill>
                <a:latin typeface="Trebuchet MS"/>
              </a:defRPr>
            </a:pPr>
            <a:r>
              <a:t>Phase B1 Pretraining Ablation &amp; Scientific Gate Decision</a:t>
            </a:r>
          </a:p>
        </p:txBody>
      </p:sp>
      <p:sp>
        <p:nvSpPr>
          <p:cNvPr id="5" name="Rounded Rectangle 4"/>
          <p:cNvSpPr/>
          <p:nvPr/>
        </p:nvSpPr>
        <p:spPr>
          <a:xfrm>
            <a:off x="8778240" y="411480"/>
            <a:ext cx="2651760" cy="384048"/>
          </a:xfrm>
          <a:prstGeom prst="round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50" b="1">
                <a:solidFill>
                  <a:srgbClr val="FFFFFF"/>
                </a:solidFill>
                <a:latin typeface="Arial"/>
              </a:defRPr>
            </a:pPr>
            <a:r>
              <a:t>STUDENT 4: MODULE 4 (4.0 MINS)</a:t>
            </a:r>
          </a:p>
        </p:txBody>
      </p:sp>
      <p:pic>
        <p:nvPicPr>
          <p:cNvPr id="6" name="Picture 5" descr="results_table_phase_b1_gate.png"/>
          <p:cNvPicPr>
            <a:picLocks noChangeAspect="1"/>
          </p:cNvPicPr>
          <p:nvPr/>
        </p:nvPicPr>
        <p:blipFill>
          <a:blip r:embed="rId2"/>
          <a:stretch>
            <a:fillRect/>
          </a:stretch>
        </p:blipFill>
        <p:spPr>
          <a:xfrm>
            <a:off x="731520" y="1280160"/>
            <a:ext cx="6583680" cy="3264177"/>
          </a:xfrm>
          <a:prstGeom prst="rect">
            <a:avLst/>
          </a:prstGeom>
        </p:spPr>
      </p:pic>
      <p:sp>
        <p:nvSpPr>
          <p:cNvPr id="7" name="Rounded Rectangle 6"/>
          <p:cNvSpPr/>
          <p:nvPr/>
        </p:nvSpPr>
        <p:spPr>
          <a:xfrm>
            <a:off x="7498079" y="1280160"/>
            <a:ext cx="3950208" cy="51206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tIns="182880"/>
          <a:lstStyle/>
          <a:p>
            <a:pPr algn="ctr">
              <a:defRPr b="1" sz="1200">
                <a:solidFill>
                  <a:srgbClr val="DC2626"/>
                </a:solidFill>
              </a:defRPr>
            </a:pPr>
            <a:r>
              <a:t>SCIENTIFIC GATE OUTCOME</a:t>
            </a:r>
          </a:p>
          <a:p>
            <a:pPr>
              <a:spcBef>
                <a:spcPts val="200"/>
              </a:spcBef>
              <a:defRPr b="1" sz="1400">
                <a:solidFill>
                  <a:srgbClr val="0F172A"/>
                </a:solidFill>
              </a:defRPr>
            </a:pPr>
            <a:r>
              <a:t>Empirical Evidence &amp; Next Steps</a:t>
            </a:r>
          </a:p>
          <a:p>
            <a:pPr>
              <a:spcBef>
                <a:spcPts val="500"/>
              </a:spcBef>
              <a:defRPr sz="1000">
                <a:solidFill>
                  <a:srgbClr val="0F172A"/>
                </a:solidFill>
              </a:defRPr>
            </a:pPr>
            <a:r>
              <a:t>• Variant 1 (Baseline, Sentences Only): Unseen typical digit accuracy is 9.0% (chance level). Proves continuous sentence models cannot recognize isolated words.</a:t>
            </a:r>
          </a:p>
          <a:p>
            <a:pPr>
              <a:spcBef>
                <a:spcPts val="500"/>
              </a:spcBef>
              <a:defRPr sz="1000">
                <a:solidFill>
                  <a:srgbClr val="0F172A"/>
                </a:solidFill>
              </a:defRPr>
            </a:pPr>
            <a:r>
              <a:t>• Variant 2 (+Word Cuts): Adding word cuts boosts unseen typical digit accuracy to 30.0% (64.5% Top-3).</a:t>
            </a:r>
          </a:p>
          <a:p>
            <a:pPr>
              <a:spcBef>
                <a:spcPts val="500"/>
              </a:spcBef>
              <a:defRPr sz="1000">
                <a:solidFill>
                  <a:srgbClr val="0F172A"/>
                </a:solidFill>
              </a:defRPr>
            </a:pPr>
            <a:r>
              <a:t>• Variant 3 (+Augmentations): Adds slow-down stretch and amplitude damping (24.5% Top-1).</a:t>
            </a:r>
          </a:p>
          <a:p>
            <a:pPr>
              <a:spcBef>
                <a:spcPts val="500"/>
              </a:spcBef>
              <a:defRPr sz="1000">
                <a:solidFill>
                  <a:srgbClr val="0F172A"/>
                </a:solidFill>
              </a:defRPr>
            </a:pPr>
            <a:r>
              <a:t>• Gate 1 Verdict (Unseen Digit &gt; 37%): Achieved 30.0% -&gt; Gate 1 Failed.</a:t>
            </a:r>
          </a:p>
          <a:p>
            <a:pPr>
              <a:spcBef>
                <a:spcPts val="500"/>
              </a:spcBef>
              <a:defRPr sz="1000">
                <a:solidFill>
                  <a:srgbClr val="0F172A"/>
                </a:solidFill>
              </a:defRPr>
            </a:pPr>
            <a:r>
              <a:t>• Gate 2 Verdict (UASpeech CI excludes 10% chance): F05 CI is [2.1%, 26.5%], F02 CI is [5.7%, 43.7%] -&gt; Gate 2 Failed.</a:t>
            </a:r>
          </a:p>
          <a:p>
            <a:pPr>
              <a:spcBef>
                <a:spcPts val="500"/>
              </a:spcBef>
              <a:defRPr sz="1000">
                <a:solidFill>
                  <a:srgbClr val="0F172A"/>
                </a:solidFill>
              </a:defRPr>
            </a:pPr>
            <a:r>
              <a:t>• Scientific Takeaway: Pretraining augmentations alone cannot solve dysarthria; personalized adaptation is mandatory.</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315200" cy="320040"/>
          </a:xfrm>
          <a:prstGeom prst="rect">
            <a:avLst/>
          </a:prstGeom>
          <a:noFill/>
        </p:spPr>
        <p:txBody>
          <a:bodyPr wrap="square">
            <a:spAutoFit/>
          </a:bodyPr>
          <a:lstStyle/>
          <a:p>
            <a:pPr>
              <a:defRPr sz="1000" b="1">
                <a:solidFill>
                  <a:srgbClr val="2563EB"/>
                </a:solidFill>
                <a:latin typeface="Arial"/>
              </a:defRPr>
            </a:pPr>
            <a:r>
              <a:t>12. REAL-TIME APPLICATION</a:t>
            </a:r>
          </a:p>
        </p:txBody>
      </p:sp>
      <p:sp>
        <p:nvSpPr>
          <p:cNvPr id="4" name="TextBox 3"/>
          <p:cNvSpPr txBox="1"/>
          <p:nvPr/>
        </p:nvSpPr>
        <p:spPr>
          <a:xfrm>
            <a:off x="731520" y="594360"/>
            <a:ext cx="7772400" cy="548640"/>
          </a:xfrm>
          <a:prstGeom prst="rect">
            <a:avLst/>
          </a:prstGeom>
          <a:noFill/>
        </p:spPr>
        <p:txBody>
          <a:bodyPr wrap="square">
            <a:spAutoFit/>
          </a:bodyPr>
          <a:lstStyle/>
          <a:p>
            <a:pPr>
              <a:defRPr sz="2200" b="1">
                <a:solidFill>
                  <a:srgbClr val="0F172A"/>
                </a:solidFill>
                <a:latin typeface="Trebuchet MS"/>
              </a:defRPr>
            </a:pPr>
            <a:r>
              <a:t>Desktop GUI Deployment &amp; Assistive AAC Phrase Matching</a:t>
            </a:r>
          </a:p>
        </p:txBody>
      </p:sp>
      <p:sp>
        <p:nvSpPr>
          <p:cNvPr id="5" name="Rounded Rectangle 4"/>
          <p:cNvSpPr/>
          <p:nvPr/>
        </p:nvSpPr>
        <p:spPr>
          <a:xfrm>
            <a:off x="8778240" y="411480"/>
            <a:ext cx="2651760" cy="384048"/>
          </a:xfrm>
          <a:prstGeom prst="round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50" b="1">
                <a:solidFill>
                  <a:srgbClr val="FFFFFF"/>
                </a:solidFill>
                <a:latin typeface="Arial"/>
              </a:defRPr>
            </a:pPr>
            <a:r>
              <a:t>STUDENT 4: MODULE 4</a:t>
            </a:r>
          </a:p>
        </p:txBody>
      </p:sp>
      <p:sp>
        <p:nvSpPr>
          <p:cNvPr id="6" name="Rounded Rectangle 5"/>
          <p:cNvSpPr/>
          <p:nvPr/>
        </p:nvSpPr>
        <p:spPr>
          <a:xfrm>
            <a:off x="731520" y="1280160"/>
            <a:ext cx="3328416" cy="51206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01168" tIns="201168"/>
          <a:lstStyle/>
          <a:p>
            <a:pPr algn="ctr">
              <a:defRPr b="1" sz="1100">
                <a:solidFill>
                  <a:srgbClr val="2563EB"/>
                </a:solidFill>
              </a:defRPr>
            </a:pPr>
            <a:r>
              <a:t>TAB 1: BASELINE</a:t>
            </a:r>
          </a:p>
          <a:p>
            <a:pPr>
              <a:spcBef>
                <a:spcPts val="300"/>
              </a:spcBef>
              <a:defRPr b="1" sz="1400">
                <a:solidFill>
                  <a:srgbClr val="0F172A"/>
                </a:solidFill>
              </a:defRPr>
            </a:pPr>
            <a:r>
              <a:t>Real-Time Video Inference</a:t>
            </a:r>
          </a:p>
          <a:p>
            <a:pPr>
              <a:spcBef>
                <a:spcPts val="600"/>
              </a:spcBef>
              <a:defRPr sz="1050">
                <a:solidFill>
                  <a:srgbClr val="0F172A"/>
                </a:solidFill>
              </a:defRPr>
            </a:pPr>
            <a:r>
              <a:t>• Real-Time Capture: Dedicated background worker records 75 frames at high-precision hardware timestamps.</a:t>
            </a:r>
          </a:p>
          <a:p>
            <a:pPr>
              <a:spcBef>
                <a:spcPts val="600"/>
              </a:spcBef>
              <a:defRPr sz="1050">
                <a:solidFill>
                  <a:srgbClr val="0F172A"/>
                </a:solidFill>
              </a:defRPr>
            </a:pPr>
            <a:r>
              <a:t>• Luminance Match: Online intensity scaling matching GRID lab stats (mu=148, sigma=27).</a:t>
            </a:r>
          </a:p>
          <a:p>
            <a:pPr>
              <a:spcBef>
                <a:spcPts val="600"/>
              </a:spcBef>
              <a:defRPr sz="1050">
                <a:solidFill>
                  <a:srgbClr val="0F172A"/>
                </a:solidFill>
              </a:defRPr>
            </a:pPr>
            <a:r>
              <a:t>• Raw CTC Output: Direct character and word emission from LipNet forward pass.</a:t>
            </a:r>
          </a:p>
          <a:p>
            <a:pPr>
              <a:spcBef>
                <a:spcPts val="600"/>
              </a:spcBef>
              <a:defRPr sz="1050">
                <a:solidFill>
                  <a:srgbClr val="0F172A"/>
                </a:solidFill>
              </a:defRPr>
            </a:pPr>
            <a:r>
              <a:t>• Grammar Snapping: Deterministic slot-constrained post-processing (snaps to valid 6-slot GRID sentence).</a:t>
            </a:r>
          </a:p>
        </p:txBody>
      </p:sp>
      <p:sp>
        <p:nvSpPr>
          <p:cNvPr id="7" name="Rounded Rectangle 6"/>
          <p:cNvSpPr/>
          <p:nvPr/>
        </p:nvSpPr>
        <p:spPr>
          <a:xfrm>
            <a:off x="4425696" y="1280160"/>
            <a:ext cx="3328416" cy="51206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01168" tIns="201168"/>
          <a:lstStyle/>
          <a:p>
            <a:pPr algn="ctr">
              <a:defRPr b="1" sz="1100">
                <a:solidFill>
                  <a:srgbClr val="059669"/>
                </a:solidFill>
              </a:defRPr>
            </a:pPr>
            <a:r>
              <a:t>TAB 2: AAC PHRASES</a:t>
            </a:r>
          </a:p>
          <a:p>
            <a:pPr>
              <a:spcBef>
                <a:spcPts val="300"/>
              </a:spcBef>
              <a:defRPr b="1" sz="1400">
                <a:solidFill>
                  <a:srgbClr val="0F172A"/>
                </a:solidFill>
              </a:defRPr>
            </a:pPr>
            <a:r>
              <a:t>Personalized Assistive Mode</a:t>
            </a:r>
          </a:p>
          <a:p>
            <a:pPr>
              <a:spcBef>
                <a:spcPts val="600"/>
              </a:spcBef>
              <a:defRPr sz="1050">
                <a:solidFill>
                  <a:srgbClr val="0F172A"/>
                </a:solidFill>
              </a:defRPr>
            </a:pPr>
            <a:r>
              <a:t>• Custom Phrases: Enroll critical assistive phrases ('I need water', 'I am in pain', 'Emergency call').</a:t>
            </a:r>
          </a:p>
          <a:p>
            <a:pPr>
              <a:spcBef>
                <a:spcPts val="600"/>
              </a:spcBef>
              <a:defRPr sz="1050">
                <a:solidFill>
                  <a:srgbClr val="0F172A"/>
                </a:solidFill>
              </a:defRPr>
            </a:pPr>
            <a:r>
              <a:t>• Rapid Enrollment: User records 3–5 training clips per phrase.</a:t>
            </a:r>
          </a:p>
          <a:p>
            <a:pPr>
              <a:spcBef>
                <a:spcPts val="600"/>
              </a:spcBef>
              <a:defRPr sz="1050">
                <a:solidFill>
                  <a:srgbClr val="0F172A"/>
                </a:solidFill>
              </a:defRPr>
            </a:pPr>
            <a:r>
              <a:t>• Two-Layer Classifier: Frozen BiGRU representations (512-dim) + L2-regularized Ridge classification head.</a:t>
            </a:r>
          </a:p>
          <a:p>
            <a:pPr>
              <a:spcBef>
                <a:spcPts val="600"/>
              </a:spcBef>
              <a:defRPr sz="1050">
                <a:solidFill>
                  <a:srgbClr val="0F172A"/>
                </a:solidFill>
              </a:defRPr>
            </a:pPr>
            <a:r>
              <a:t>• Bypasses fixed vocabularies entirely, enabling personalized assistive communication.</a:t>
            </a:r>
          </a:p>
        </p:txBody>
      </p:sp>
      <p:sp>
        <p:nvSpPr>
          <p:cNvPr id="8" name="Rounded Rectangle 7"/>
          <p:cNvSpPr/>
          <p:nvPr/>
        </p:nvSpPr>
        <p:spPr>
          <a:xfrm>
            <a:off x="8119872" y="1280160"/>
            <a:ext cx="3328416" cy="51206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01168" tIns="201168"/>
          <a:lstStyle/>
          <a:p>
            <a:pPr algn="ctr">
              <a:defRPr b="1" sz="1100">
                <a:solidFill>
                  <a:srgbClr val="D97706"/>
                </a:solidFill>
              </a:defRPr>
            </a:pPr>
            <a:r>
              <a:t>TAB 3: FEW-SHOT</a:t>
            </a:r>
          </a:p>
          <a:p>
            <a:pPr>
              <a:spcBef>
                <a:spcPts val="300"/>
              </a:spcBef>
              <a:defRPr b="1" sz="1400">
                <a:solidFill>
                  <a:srgbClr val="0F172A"/>
                </a:solidFill>
              </a:defRPr>
            </a:pPr>
            <a:r>
              <a:t>On-Device Adapter Tuning</a:t>
            </a:r>
          </a:p>
          <a:p>
            <a:pPr>
              <a:spcBef>
                <a:spcPts val="600"/>
              </a:spcBef>
              <a:defRPr sz="1050">
                <a:solidFill>
                  <a:srgbClr val="0F172A"/>
                </a:solidFill>
              </a:defRPr>
            </a:pPr>
            <a:r>
              <a:t>• In-App Personalization: Record 5–10 examples of target words directly in the desktop GUI.</a:t>
            </a:r>
          </a:p>
          <a:p>
            <a:pPr>
              <a:spcBef>
                <a:spcPts val="600"/>
              </a:spcBef>
              <a:defRPr sz="1050">
                <a:solidFill>
                  <a:srgbClr val="0F172A"/>
                </a:solidFill>
              </a:defRPr>
            </a:pPr>
            <a:r>
              <a:t>• Bottleneck Training: Executes 15 epochs of adapter fine-tuning on the user's local machine in ~12 seconds.</a:t>
            </a:r>
          </a:p>
          <a:p>
            <a:pPr>
              <a:spcBef>
                <a:spcPts val="600"/>
              </a:spcBef>
              <a:defRPr sz="1050">
                <a:solidFill>
                  <a:srgbClr val="0F172A"/>
                </a:solidFill>
              </a:defRPr>
            </a:pPr>
            <a:r>
              <a:t>• Before vs After: Live comparison panel displaying recognition confidence before and after adapter tuning.</a:t>
            </a:r>
          </a:p>
          <a:p>
            <a:pPr>
              <a:spcBef>
                <a:spcPts val="600"/>
              </a:spcBef>
              <a:defRPr sz="1050">
                <a:solidFill>
                  <a:srgbClr val="0F172A"/>
                </a:solidFill>
              </a:defRPr>
            </a:pPr>
            <a:r>
              <a:t>• Model Export: Automatically saves personalized checkpoint (personalized_lipnet.pt).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315200" cy="320040"/>
          </a:xfrm>
          <a:prstGeom prst="rect">
            <a:avLst/>
          </a:prstGeom>
          <a:noFill/>
        </p:spPr>
        <p:txBody>
          <a:bodyPr wrap="square">
            <a:spAutoFit/>
          </a:bodyPr>
          <a:lstStyle/>
          <a:p>
            <a:pPr>
              <a:defRPr sz="1000" b="1">
                <a:solidFill>
                  <a:srgbClr val="2563EB"/>
                </a:solidFill>
                <a:latin typeface="Arial"/>
              </a:defRPr>
            </a:pPr>
            <a:r>
              <a:t>13. CONCLUSION &amp; ROADMAP</a:t>
            </a:r>
          </a:p>
        </p:txBody>
      </p:sp>
      <p:sp>
        <p:nvSpPr>
          <p:cNvPr id="4" name="TextBox 3"/>
          <p:cNvSpPr txBox="1"/>
          <p:nvPr/>
        </p:nvSpPr>
        <p:spPr>
          <a:xfrm>
            <a:off x="731520" y="594360"/>
            <a:ext cx="7772400" cy="548640"/>
          </a:xfrm>
          <a:prstGeom prst="rect">
            <a:avLst/>
          </a:prstGeom>
          <a:noFill/>
        </p:spPr>
        <p:txBody>
          <a:bodyPr wrap="square">
            <a:spAutoFit/>
          </a:bodyPr>
          <a:lstStyle/>
          <a:p>
            <a:pPr>
              <a:defRPr sz="2200" b="1">
                <a:solidFill>
                  <a:srgbClr val="0F172A"/>
                </a:solidFill>
                <a:latin typeface="Trebuchet MS"/>
              </a:defRPr>
            </a:pPr>
            <a:r>
              <a:t>Limitations, Future Scope &amp; Concluding Summary</a:t>
            </a:r>
          </a:p>
        </p:txBody>
      </p:sp>
      <p:sp>
        <p:nvSpPr>
          <p:cNvPr id="5" name="Rounded Rectangle 4"/>
          <p:cNvSpPr/>
          <p:nvPr/>
        </p:nvSpPr>
        <p:spPr>
          <a:xfrm>
            <a:off x="8778240" y="411480"/>
            <a:ext cx="2651760" cy="384048"/>
          </a:xfrm>
          <a:prstGeom prst="round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50" b="1">
                <a:solidFill>
                  <a:srgbClr val="FFFFFF"/>
                </a:solidFill>
                <a:latin typeface="Arial"/>
              </a:defRPr>
            </a:pPr>
            <a:r>
              <a:t>EVAL RUBRIC: COMPONENT 5 (20 MARKS)</a:t>
            </a:r>
          </a:p>
        </p:txBody>
      </p:sp>
      <p:sp>
        <p:nvSpPr>
          <p:cNvPr id="6" name="Rounded Rectangle 5"/>
          <p:cNvSpPr/>
          <p:nvPr/>
        </p:nvSpPr>
        <p:spPr>
          <a:xfrm>
            <a:off x="731520" y="1280160"/>
            <a:ext cx="3328416" cy="51206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01168" tIns="201168"/>
          <a:lstStyle/>
          <a:p>
            <a:pPr algn="ctr">
              <a:defRPr b="1" sz="1100">
                <a:solidFill>
                  <a:srgbClr val="DC2626"/>
                </a:solidFill>
              </a:defRPr>
            </a:pPr>
            <a:r>
              <a:t>CURRENT LIMITATIONS</a:t>
            </a:r>
          </a:p>
          <a:p>
            <a:pPr>
              <a:spcBef>
                <a:spcPts val="300"/>
              </a:spcBef>
              <a:defRPr b="1" sz="1400">
                <a:solidFill>
                  <a:srgbClr val="0F172A"/>
                </a:solidFill>
              </a:defRPr>
            </a:pPr>
            <a:r>
              <a:t>Honest Scientific Boundaries</a:t>
            </a:r>
          </a:p>
          <a:p>
            <a:pPr>
              <a:spcBef>
                <a:spcPts val="600"/>
              </a:spcBef>
              <a:defRPr sz="1050">
                <a:solidFill>
                  <a:srgbClr val="0F172A"/>
                </a:solidFill>
              </a:defRPr>
            </a:pPr>
            <a:r>
              <a:t>• Viseme Ambiguity: Phonemes with identical lip mechanics (e.g. /p/, /b/, /m/) produce identical visual visemes, limiting single-frame discriminability.</a:t>
            </a:r>
          </a:p>
          <a:p>
            <a:pPr>
              <a:spcBef>
                <a:spcPts val="600"/>
              </a:spcBef>
              <a:defRPr sz="1050">
                <a:solidFill>
                  <a:srgbClr val="0F172A"/>
                </a:solidFill>
              </a:defRPr>
            </a:pPr>
            <a:r>
              <a:t>• Head Movement in Spastic CP: Involuntary head spasms reduce Haar detection success from 100% (GRID) to 87.1% (F05 Block B1).</a:t>
            </a:r>
          </a:p>
          <a:p>
            <a:pPr>
              <a:spcBef>
                <a:spcPts val="600"/>
              </a:spcBef>
              <a:defRPr sz="1050">
                <a:solidFill>
                  <a:srgbClr val="0F172A"/>
                </a:solidFill>
              </a:defRPr>
            </a:pPr>
            <a:r>
              <a:t>• Small Public Cohort: UASpeech video is restricted to a small participant group, requiring careful cross-session validation.</a:t>
            </a:r>
          </a:p>
        </p:txBody>
      </p:sp>
      <p:sp>
        <p:nvSpPr>
          <p:cNvPr id="7" name="Rounded Rectangle 6"/>
          <p:cNvSpPr/>
          <p:nvPr/>
        </p:nvSpPr>
        <p:spPr>
          <a:xfrm>
            <a:off x="4425696" y="1280160"/>
            <a:ext cx="3328416" cy="51206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01168" tIns="201168"/>
          <a:lstStyle/>
          <a:p>
            <a:pPr algn="ctr">
              <a:defRPr b="1" sz="1100">
                <a:solidFill>
                  <a:srgbClr val="2563EB"/>
                </a:solidFill>
              </a:defRPr>
            </a:pPr>
            <a:r>
              <a:t>FUTURE ROADMAP</a:t>
            </a:r>
          </a:p>
          <a:p>
            <a:pPr>
              <a:spcBef>
                <a:spcPts val="300"/>
              </a:spcBef>
              <a:defRPr b="1" sz="1400">
                <a:solidFill>
                  <a:srgbClr val="0F172A"/>
                </a:solidFill>
              </a:defRPr>
            </a:pPr>
            <a:r>
              <a:t>Next Engineering Steps</a:t>
            </a:r>
          </a:p>
          <a:p>
            <a:pPr>
              <a:spcBef>
                <a:spcPts val="600"/>
              </a:spcBef>
              <a:defRPr sz="1050">
                <a:solidFill>
                  <a:srgbClr val="0F172A"/>
                </a:solidFill>
              </a:defRPr>
            </a:pPr>
            <a:r>
              <a:t>• LoRA on BiGRU Gates: Inject low-rank decomposition matrices (r=4) directly into recurrent temporal gate weights (Wir, Wiz, Win).</a:t>
            </a:r>
          </a:p>
          <a:p>
            <a:pPr>
              <a:spcBef>
                <a:spcPts val="600"/>
              </a:spcBef>
              <a:defRPr sz="1050">
                <a:solidFill>
                  <a:srgbClr val="0F172A"/>
                </a:solidFill>
              </a:defRPr>
            </a:pPr>
            <a:r>
              <a:t>• AdaBN Normalization: Recalculate BatchNorm statistics on unlabeled user video to align feature distributions before few-shot tuning.</a:t>
            </a:r>
          </a:p>
          <a:p>
            <a:pPr>
              <a:spcBef>
                <a:spcPts val="600"/>
              </a:spcBef>
              <a:defRPr sz="1050">
                <a:solidFill>
                  <a:srgbClr val="0F172A"/>
                </a:solidFill>
              </a:defRPr>
            </a:pPr>
            <a:r>
              <a:t>• Multi-Modal Sensor Fusion: Combine visual lip-reading with surface electromyography (sEMG) or throat microphones to resolve viseme collisions.</a:t>
            </a:r>
          </a:p>
        </p:txBody>
      </p:sp>
      <p:sp>
        <p:nvSpPr>
          <p:cNvPr id="8" name="Rounded Rectangle 7"/>
          <p:cNvSpPr/>
          <p:nvPr/>
        </p:nvSpPr>
        <p:spPr>
          <a:xfrm>
            <a:off x="8119872" y="1280160"/>
            <a:ext cx="3328416" cy="51206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01168" tIns="201168"/>
          <a:lstStyle/>
          <a:p>
            <a:pPr algn="ctr">
              <a:defRPr b="1" sz="1100">
                <a:solidFill>
                  <a:srgbClr val="059669"/>
                </a:solidFill>
              </a:defRPr>
            </a:pPr>
            <a:r>
              <a:t>PROJECT CONTRIBUTIONS</a:t>
            </a:r>
          </a:p>
          <a:p>
            <a:pPr>
              <a:spcBef>
                <a:spcPts val="300"/>
              </a:spcBef>
              <a:defRPr b="1" sz="1400">
                <a:solidFill>
                  <a:srgbClr val="0F172A"/>
                </a:solidFill>
              </a:defRPr>
            </a:pPr>
            <a:r>
              <a:t>Core Takeaways &amp; Impact</a:t>
            </a:r>
          </a:p>
          <a:p>
            <a:pPr>
              <a:spcBef>
                <a:spcPts val="600"/>
              </a:spcBef>
              <a:defRPr sz="1050">
                <a:solidFill>
                  <a:srgbClr val="0F172A"/>
                </a:solidFill>
              </a:defRPr>
            </a:pPr>
            <a:r>
              <a:t>• Demonstrated that training solely on sentences yields chance accuracy on isolated words; word cuts restore accuracy to 30%.</a:t>
            </a:r>
          </a:p>
          <a:p>
            <a:pPr>
              <a:spcBef>
                <a:spcPts val="600"/>
              </a:spcBef>
              <a:defRPr sz="1050">
                <a:solidFill>
                  <a:srgbClr val="0F172A"/>
                </a:solidFill>
              </a:defRPr>
            </a:pPr>
            <a:r>
              <a:t>• Proved bottleneck adapters prevent catastrophic forgetting, lifting Top-3 accuracy on severe dysarthria to 40%.</a:t>
            </a:r>
          </a:p>
          <a:p>
            <a:pPr>
              <a:spcBef>
                <a:spcPts val="600"/>
              </a:spcBef>
              <a:defRPr sz="1050">
                <a:solidFill>
                  <a:srgbClr val="0F172A"/>
                </a:solidFill>
              </a:defRPr>
            </a:pPr>
            <a:r>
              <a:t>• Delivered a real-time, privacy-preserving desktop application that empowers motor-impaired individuals with hands-free communication.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